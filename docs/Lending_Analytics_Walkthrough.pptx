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one-sentence frame: Four services, four databases, nothing enforces the join. I built one append-only capture path, turned it into as-of history, and put every question on top of that history, so the platform can always say what it knew, when it knew it, and what it did not capture. Three words to remember: append-only, as-of, honest. Then: Twelve minutes, thirteen slides in five sections, and I will stop wherever you want to dig.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MySQL databases, three teams, REST and Kafka between them. The application number is the only value all four carry, under two column names, and nothing enforces it. Every cross-service join used to live in application code. The design moves it into the platform, once, with evidence of where every value came from. Everything else in the document exists to answer one of four questions, which come next.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right-hand column, not the left. Q1 tests whether a cohort can be pinned so a rewrite cannot move it, and whether the drop-off reasons sum to the cohort. Q2 is only answerable with append-only capture: the phrase even if the sources have since changed rules out reading current rows. Q3 is a morning SLA, not analytics, and the list itself becomes a record. Q4 asks for proof after the fact, so the answer is evidence tables, not a description of masks.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the daily build and the alert stream read the same landing files, so they cannot disagree about what happened. Nothing is real-time unless a question needs it, and only one does: a failed disbursement, and money moving after a DECLINED decision. Why DMS over the services’ existing Kafka CDC topics: reuse is the strongest alternative and I say so, but I could not confirm six things about those topics; any one missing means no history for Silver. DMS until an owner confirms, then Bronze reads the topics and nothing downstream changes. Why dbt though it is outside the brief’s stack: same warehouse and catalog, so no new engine to govern; masks and tags live with each model; the volume makes a full daily rebuild cheap, which is what makes a fix reaches all of history tomorrow true.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rules: a FAILED disbursement because a customer is waiting for money, and money moving on an application whose latest decision is DECLINED, the most serious disagreement in the design. Latency is one-minute files plus a one-minute trigger, typically one to three minutes, inside a five-minute target. Health: a heartbeat each time the stream checks for work, so a quiet night is not mistaken for a fault. I rejected Flink and Spark real-time mode: seconds of latency where ops acts in minutes, and a second engine outside the catalog’s audit. The pattern scales: each new stream reads the same landing files and writes its own outbox.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why Q2 is answerable at all. A loan_offer row is unique per application and overwritten in place, so its history exists only in the change log. Say the cost out loud: anything before the first captured image is NOT_CAPTURED and labelled so; I did not pretend to reconstruct it. The capture columns are the operation, the source commit time, the change sequence, the load type, the source file, the ingestion time, and a rescued-data column that makes a type change visible instead of silent.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point that makes Q4 easy. Because the boundary is one macro, the fields the brief names never reach an analyst-readable table, so the regulator proof is an absence proof plus access evidence, not a masking audit. Rejected: unkeyed SHA-256, because a small structured id space can be enumerated; a token vault, because the mapping table is a second store of clear identifiers to guard, back up, erase and evidence. Erasure: retention wins for raw data and decision records; the analytical layers remove the bridge and identity rows, null personal attributes, and vacuum seven days of table history. Frozen cohorts carry no person at all.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facts: one row per submitted application, one per disbursement with a negative row per reversal, one per whitelist entry, for whitelist-to-application conversion. The dimensions include a versioned drop-off bucket mapping, so the roll-up from fine outcome codes to the brief’s five reasons is a seed Product can change with a diff, not logic. The written-once records are the part to stress: what a regulator was shown, what compliance was shown, what ops was told each morning, and whether a cohort was allowed to publish, each a row that cannot be edited afterwards.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picture top to bottom: cohort size, funded share frozen beside recomputed, outcome mix by channel, then why the rest did not fund, each of the brief’s five reasons as a share of the cohort and of the unfunded. Say illustrative once and do not linger on the arithmetic. The join at answer time is the funnel fact and two dimensions; the fact itself is built once a day from six source tables, every join as of commit time against history. Corrections are versioned restatements with a reason, and the roll-up mapping is versioned with a change reason and an approver.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boundary out loud; it is the strongest thing in Q2: the platform proves what the sources held and what the engine copied onto its decision row. It cannot prove what the engine actually read unless the engine says so. That is where the confirm item comes from: ask the decision service for an inputs snapshot event keyed on application number and decision version. The decision row already copies the employer fields, so the rest is a small step, and it lifts every answer to the top evidence grade. Declared income has two homes and which one the engine used is open; the record carries both with their read times.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Q3: the open-offer test is explicit because an accepted offer never expires in the data; without it every accepted offer would top the list each morning. Names and mobiles come from the restricted schema through one view, for ops only. Q4: the short answer is that the fields the brief names never reach an analyst-readable table, so the pack proves two more things for every read: no analyst could reach the layers that hold them, and every sensitive attribute an analyst did read was masked at that moment. The platform can add evidence but cannot change or delete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Sixty seconds, one sentence per row. On the rejected trade-off, give the reason in full: it looks safe, but holding rows ties every metric to the worst integration, and it changes the denominator so the funnel stops reconciling to application counts. The runner-up confirm item is who mints customer_id, which branch applicants carry in the KYC and disbursement services but not in the application service. On identity, the risk I wrote down: the key assumes national_id holds one ID scheme, and the platform publishes two counts, ids collapsing into one key and same name-and-mobile under different keys, so the size of the problem is visible before anyone widens the use of personal 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frame again: append-only, as-of, honest. Then the day-one answer if asked what you would do first: get the six Kafka answers and the national_id answer, and confirm with each owner the parameters the document leaves to them. Stop talking and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223A"/>
        </a:solidFill>
        <a:effectLst/>
      </p:bgPr>
    </p:bg>
    <p:spTree>
      <p:nvGrpSpPr>
        <p:cNvPr id="1" name=""/>
        <p:cNvGrpSpPr/>
        <p:nvPr/>
      </p:nvGrpSpPr>
      <p:grpSpPr/>
      <p:sp>
        <p:nvSpPr>
          <p:cNvPr id="2" name="TextBox 1"/>
          <p:cNvSpPr txBox="1"/>
          <p:nvPr/>
        </p:nvSpPr>
        <p:spPr>
          <a:xfrm>
            <a:off x="812779" y="812779"/>
            <a:ext cx="10566135" cy="253993"/>
          </a:xfrm>
          <a:prstGeom prst="rect">
            <a:avLst/>
          </a:prstGeom>
          <a:noFill/>
        </p:spPr>
        <p:txBody>
          <a:bodyPr wrap="square" lIns="0" rIns="0" tIns="0" bIns="0" anchor="t">
            <a:spAutoFit/>
          </a:bodyPr>
          <a:lstStyle/>
          <a:p>
            <a:pPr algn="l">
              <a:lnSpc>
                <a:spcPct val="120000"/>
              </a:lnSpc>
            </a:pPr>
            <a:r>
              <a:rPr sz="1200" b="1" i="0">
                <a:solidFill>
                  <a:srgbClr val="E38B3A"/>
                </a:solidFill>
                <a:latin typeface="Calibri"/>
              </a:rPr>
              <a:t>PERSONAL LOAN  ·  DATA PLATFORM, DATA MODEL AND DECISION LOG</a:t>
            </a:r>
          </a:p>
        </p:txBody>
      </p:sp>
      <p:sp>
        <p:nvSpPr>
          <p:cNvPr id="3" name="TextBox 2"/>
          <p:cNvSpPr txBox="1"/>
          <p:nvPr/>
        </p:nvSpPr>
        <p:spPr>
          <a:xfrm>
            <a:off x="812779" y="2412939"/>
            <a:ext cx="10566135" cy="952476"/>
          </a:xfrm>
          <a:prstGeom prst="rect">
            <a:avLst/>
          </a:prstGeom>
          <a:noFill/>
        </p:spPr>
        <p:txBody>
          <a:bodyPr wrap="square" lIns="0" rIns="0" tIns="0" bIns="0" anchor="t">
            <a:spAutoFit/>
          </a:bodyPr>
          <a:lstStyle/>
          <a:p>
            <a:pPr algn="l">
              <a:lnSpc>
                <a:spcPct val="105000"/>
              </a:lnSpc>
            </a:pPr>
            <a:r>
              <a:rPr sz="5500" b="1" i="0">
                <a:solidFill>
                  <a:srgbClr val="F6F3EC"/>
                </a:solidFill>
                <a:latin typeface="Cambria"/>
              </a:rPr>
              <a:t>Lending Analytics Design</a:t>
            </a:r>
          </a:p>
        </p:txBody>
      </p:sp>
      <p:sp>
        <p:nvSpPr>
          <p:cNvPr id="4" name="TextBox 3"/>
          <p:cNvSpPr txBox="1"/>
          <p:nvPr/>
        </p:nvSpPr>
        <p:spPr>
          <a:xfrm>
            <a:off x="812779" y="3555911"/>
            <a:ext cx="8254793" cy="1015974"/>
          </a:xfrm>
          <a:prstGeom prst="rect">
            <a:avLst/>
          </a:prstGeom>
          <a:noFill/>
        </p:spPr>
        <p:txBody>
          <a:bodyPr wrap="square" lIns="0" rIns="0" tIns="0" bIns="0" anchor="t">
            <a:spAutoFit/>
          </a:bodyPr>
          <a:lstStyle/>
          <a:p>
            <a:pPr algn="l">
              <a:lnSpc>
                <a:spcPct val="130000"/>
              </a:lnSpc>
            </a:pPr>
            <a:r>
              <a:rPr sz="1900" b="0" i="0">
                <a:solidFill>
                  <a:srgbClr val="BFC9DA"/>
                </a:solidFill>
                <a:latin typeface="Calibri"/>
              </a:rPr>
              <a:t>Four services, four databases, nothing enforces the join. One append-only capture path, as-of history, and an honest answer to every question.</a:t>
            </a:r>
          </a:p>
        </p:txBody>
      </p:sp>
      <p:sp>
        <p:nvSpPr>
          <p:cNvPr id="5" name="TextBox 4"/>
          <p:cNvSpPr txBox="1"/>
          <p:nvPr/>
        </p:nvSpPr>
        <p:spPr>
          <a:xfrm>
            <a:off x="812779" y="5714857"/>
            <a:ext cx="6349841" cy="253993"/>
          </a:xfrm>
          <a:prstGeom prst="rect">
            <a:avLst/>
          </a:prstGeom>
          <a:noFill/>
        </p:spPr>
        <p:txBody>
          <a:bodyPr wrap="square" lIns="0" rIns="0" tIns="0" bIns="0" anchor="t">
            <a:spAutoFit/>
          </a:bodyPr>
          <a:lstStyle/>
          <a:p>
            <a:pPr algn="l">
              <a:lnSpc>
                <a:spcPct val="120000"/>
              </a:lnSpc>
            </a:pPr>
            <a:r>
              <a:rPr sz="1300" b="0" i="0">
                <a:solidFill>
                  <a:srgbClr val="BFC9DA"/>
                </a:solidFill>
                <a:latin typeface="Calibri"/>
              </a:rPr>
              <a:t>Walkthrough of the submitted design</a:t>
            </a:r>
          </a:p>
        </p:txBody>
      </p:sp>
      <p:sp>
        <p:nvSpPr>
          <p:cNvPr id="6" name="TextBox 5"/>
          <p:cNvSpPr txBox="1"/>
          <p:nvPr/>
        </p:nvSpPr>
        <p:spPr>
          <a:xfrm>
            <a:off x="8889777" y="5714857"/>
            <a:ext cx="2489137" cy="253993"/>
          </a:xfrm>
          <a:prstGeom prst="rect">
            <a:avLst/>
          </a:prstGeom>
          <a:noFill/>
        </p:spPr>
        <p:txBody>
          <a:bodyPr wrap="square" lIns="0" rIns="0" tIns="0" bIns="0" anchor="t">
            <a:spAutoFit/>
          </a:bodyPr>
          <a:lstStyle/>
          <a:p>
            <a:pPr algn="r">
              <a:lnSpc>
                <a:spcPct val="120000"/>
              </a:lnSpc>
            </a:pPr>
            <a:r>
              <a:rPr sz="1300" b="0" i="0">
                <a:solidFill>
                  <a:srgbClr val="BFC9DA"/>
                </a:solidFill>
                <a:latin typeface="Calibri"/>
              </a:rP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812779" y="812779"/>
            <a:ext cx="10566135" cy="952476"/>
          </a:xfrm>
          <a:prstGeom prst="rect">
            <a:avLst/>
          </a:prstGeom>
          <a:noFill/>
        </p:spPr>
        <p:txBody>
          <a:bodyPr wrap="square" lIns="0" rIns="0" tIns="0" bIns="0" anchor="t">
            <a:spAutoFit/>
          </a:bodyPr>
          <a:lstStyle/>
          <a:p>
            <a:pPr algn="l">
              <a:lnSpc>
                <a:spcPct val="110000"/>
              </a:lnSpc>
            </a:pPr>
            <a:r>
              <a:rPr sz="3000" b="1" i="0">
                <a:solidFill>
                  <a:srgbClr val="15223A"/>
                </a:solidFill>
                <a:latin typeface="Cambria"/>
              </a:rPr>
              <a:t>Four databases, one shared value, nothing enforces it</a:t>
            </a:r>
          </a:p>
        </p:txBody>
      </p:sp>
      <p:sp>
        <p:nvSpPr>
          <p:cNvPr id="3" name="Rectangle 2"/>
          <p:cNvSpPr/>
          <p:nvPr/>
        </p:nvSpPr>
        <p:spPr>
          <a:xfrm>
            <a:off x="1460463" y="1460463"/>
            <a:ext cx="9270768" cy="4127396"/>
          </a:xfrm>
          <a:prstGeom prst="rect">
            <a:avLst/>
          </a:prstGeom>
          <a:solidFill>
            <a:srgbClr val="FFFFFF"/>
          </a:solidFill>
          <a:ln w="952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1566195" y="1536661"/>
            <a:ext cx="9059303" cy="3975000"/>
          </a:xfrm>
          <a:prstGeom prst="rect">
            <a:avLst/>
          </a:prstGeom>
        </p:spPr>
      </p:pic>
      <p:sp>
        <p:nvSpPr>
          <p:cNvPr id="5" name="TextBox 4"/>
          <p:cNvSpPr txBox="1"/>
          <p:nvPr/>
        </p:nvSpPr>
        <p:spPr>
          <a:xfrm>
            <a:off x="812779" y="6260943"/>
            <a:ext cx="8889777" cy="215894"/>
          </a:xfrm>
          <a:prstGeom prst="rect">
            <a:avLst/>
          </a:prstGeom>
          <a:noFill/>
        </p:spPr>
        <p:txBody>
          <a:bodyPr wrap="square" lIns="0" rIns="0" tIns="0" bIns="0" anchor="t">
            <a:spAutoFit/>
          </a:bodyPr>
          <a:lstStyle/>
          <a:p>
            <a:pPr algn="l">
              <a:lnSpc>
                <a:spcPct val="120000"/>
              </a:lnSpc>
            </a:pPr>
            <a:r>
              <a:rPr sz="1100" b="0" i="0">
                <a:solidFill>
                  <a:srgbClr val="6B7484"/>
                </a:solidFill>
                <a:latin typeface="Calibri"/>
              </a:rPr>
              <a:t>Figure 1 in the document. The application number travels under two column names.</a:t>
            </a:r>
          </a:p>
        </p:txBody>
      </p:sp>
      <p:sp>
        <p:nvSpPr>
          <p:cNvPr id="6" name="TextBox 5"/>
          <p:cNvSpPr txBox="1"/>
          <p:nvPr/>
        </p:nvSpPr>
        <p:spPr>
          <a:xfrm>
            <a:off x="10997925" y="6260943"/>
            <a:ext cx="380990" cy="215894"/>
          </a:xfrm>
          <a:prstGeom prst="rect">
            <a:avLst/>
          </a:prstGeom>
          <a:noFill/>
        </p:spPr>
        <p:txBody>
          <a:bodyPr wrap="square" lIns="0" rIns="0" tIns="0" bIns="0" anchor="t">
            <a:spAutoFit/>
          </a:bodyPr>
          <a:lstStyle/>
          <a:p>
            <a:pPr algn="r">
              <a:lnSpc>
                <a:spcPct val="120000"/>
              </a:lnSpc>
            </a:pPr>
            <a:r>
              <a:rPr sz="1100" b="0" i="0">
                <a:solidFill>
                  <a:srgbClr val="6B7484"/>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812779" y="812779"/>
            <a:ext cx="10566135" cy="952476"/>
          </a:xfrm>
          <a:prstGeom prst="rect">
            <a:avLst/>
          </a:prstGeom>
          <a:noFill/>
        </p:spPr>
        <p:txBody>
          <a:bodyPr wrap="square" lIns="0" rIns="0" tIns="0" bIns="0" anchor="t">
            <a:spAutoFit/>
          </a:bodyPr>
          <a:lstStyle/>
          <a:p>
            <a:pPr algn="l">
              <a:lnSpc>
                <a:spcPct val="110000"/>
              </a:lnSpc>
            </a:pPr>
            <a:r>
              <a:rPr sz="3000" b="1" i="0">
                <a:solidFill>
                  <a:srgbClr val="15223A"/>
                </a:solidFill>
                <a:latin typeface="Cambria"/>
              </a:rPr>
              <a:t>Four questions, and what each one really tests</a:t>
            </a:r>
          </a:p>
        </p:txBody>
      </p:sp>
      <p:graphicFrame>
        <p:nvGraphicFramePr>
          <p:cNvPr id="3" name="Table 2"/>
          <p:cNvGraphicFramePr>
            <a:graphicFrameLocks noGrp="1"/>
          </p:cNvGraphicFramePr>
          <p:nvPr/>
        </p:nvGraphicFramePr>
        <p:xfrm>
          <a:off x="812779" y="1650958"/>
          <a:ext cx="10566134" cy="3238416"/>
        </p:xfrm>
        <a:graphic>
          <a:graphicData uri="http://schemas.openxmlformats.org/drawingml/2006/table">
            <a:tbl>
              <a:tblPr firstRow="1" bandRow="1">
                <a:tableStyleId>{5C22544A-7EE6-4342-B048-85BDC9FD1C3A}</a:tableStyleId>
              </a:tblPr>
              <a:tblGrid>
                <a:gridCol w="825479"/>
                <a:gridCol w="5333866"/>
                <a:gridCol w="4406789"/>
              </a:tblGrid>
              <a:tr h="444488">
                <a:tc>
                  <a:txBody>
                    <a:bodyPr/>
                    <a:lstStyle/>
                    <a:p>
                      <a:r>
                        <a:rPr sz="1400" b="1">
                          <a:solidFill>
                            <a:srgbClr val="F6F3EC"/>
                          </a:solidFill>
                          <a:latin typeface="Calibri"/>
                        </a:rPr>
                        <a:t>Q</a:t>
                      </a:r>
                    </a:p>
                  </a:txBody>
                  <a:tcPr marL="152396" marR="152396" marT="101597" marB="101597">
                    <a:solidFill>
                      <a:srgbClr val="15223A"/>
                    </a:solidFill>
                  </a:tcPr>
                </a:tc>
                <a:tc>
                  <a:txBody>
                    <a:bodyPr/>
                    <a:lstStyle/>
                    <a:p>
                      <a:r>
                        <a:rPr sz="1400" b="1">
                          <a:solidFill>
                            <a:srgbClr val="F6F3EC"/>
                          </a:solidFill>
                          <a:latin typeface="Calibri"/>
                        </a:rPr>
                        <a:t>The brief asks</a:t>
                      </a:r>
                    </a:p>
                  </a:txBody>
                  <a:tcPr marL="152396" marR="152396" marT="101597" marB="101597">
                    <a:solidFill>
                      <a:srgbClr val="15223A"/>
                    </a:solidFill>
                  </a:tcPr>
                </a:tc>
                <a:tc>
                  <a:txBody>
                    <a:bodyPr/>
                    <a:lstStyle/>
                    <a:p>
                      <a:r>
                        <a:rPr sz="1400" b="1">
                          <a:solidFill>
                            <a:srgbClr val="F6F3EC"/>
                          </a:solidFill>
                          <a:latin typeface="Calibri"/>
                        </a:rPr>
                        <a:t>What it tests</a:t>
                      </a:r>
                    </a:p>
                  </a:txBody>
                  <a:tcPr marL="152396" marR="152396" marT="101597" marB="101597">
                    <a:solidFill>
                      <a:srgbClr val="15223A"/>
                    </a:solidFill>
                  </a:tcPr>
                </a:tc>
              </a:tr>
              <a:tr h="698482">
                <a:tc>
                  <a:txBody>
                    <a:bodyPr/>
                    <a:lstStyle/>
                    <a:p>
                      <a:r>
                        <a:rPr sz="1400" b="1">
                          <a:solidFill>
                            <a:srgbClr val="E38B3A"/>
                          </a:solidFill>
                          <a:latin typeface="Calibri"/>
                        </a:rPr>
                        <a:t>Q1</a:t>
                      </a:r>
                    </a:p>
                  </a:txBody>
                  <a:tcPr marL="152396" marR="152396" marT="101597" marB="101597">
                    <a:solidFill>
                      <a:srgbClr val="FFFFFF"/>
                    </a:solidFill>
                  </a:tcPr>
                </a:tc>
                <a:tc>
                  <a:txBody>
                    <a:bodyPr/>
                    <a:lstStyle/>
                    <a:p>
                      <a:r>
                        <a:rPr sz="1400" b="0">
                          <a:solidFill>
                            <a:srgbClr val="3C4656"/>
                          </a:solidFill>
                          <a:latin typeface="Calibri"/>
                        </a:rPr>
                        <a:t>Share of a month’s submissions funded within 14 days, by channel, and why the rest did not fund</a:t>
                      </a:r>
                    </a:p>
                  </a:txBody>
                  <a:tcPr marL="152396" marR="152396" marT="101597" marB="101597">
                    <a:solidFill>
                      <a:srgbClr val="FFFFFF"/>
                    </a:solidFill>
                  </a:tcPr>
                </a:tc>
                <a:tc>
                  <a:txBody>
                    <a:bodyPr/>
                    <a:lstStyle/>
                    <a:p>
                      <a:r>
                        <a:rPr sz="1400" b="0">
                          <a:solidFill>
                            <a:srgbClr val="3C4656"/>
                          </a:solidFill>
                          <a:latin typeface="Calibri"/>
                        </a:rPr>
                        <a:t>A cohort that never moves, a reason that always sums</a:t>
                      </a:r>
                    </a:p>
                  </a:txBody>
                  <a:tcPr marL="152396" marR="152396" marT="101597" marB="101597">
                    <a:solidFill>
                      <a:srgbClr val="FFFFFF"/>
                    </a:solidFill>
                  </a:tcPr>
                </a:tc>
              </a:tr>
              <a:tr h="698482">
                <a:tc>
                  <a:txBody>
                    <a:bodyPr/>
                    <a:lstStyle/>
                    <a:p>
                      <a:r>
                        <a:rPr sz="1400" b="1">
                          <a:solidFill>
                            <a:srgbClr val="E38B3A"/>
                          </a:solidFill>
                          <a:latin typeface="Calibri"/>
                        </a:rPr>
                        <a:t>Q2</a:t>
                      </a:r>
                    </a:p>
                  </a:txBody>
                  <a:tcPr marL="152396" marR="152396" marT="101597" marB="101597">
                    <a:solidFill>
                      <a:srgbClr val="FBF9F4"/>
                    </a:solidFill>
                  </a:tcPr>
                </a:tc>
                <a:tc>
                  <a:txBody>
                    <a:bodyPr/>
                    <a:lstStyle/>
                    <a:p>
                      <a:r>
                        <a:rPr sz="1400" b="0">
                          <a:solidFill>
                            <a:srgbClr val="3C4656"/>
                          </a:solidFill>
                          <a:latin typeface="Calibri"/>
                        </a:rPr>
                        <a:t>Reconstruct the inputs the credit engine saw at decision time, even if the sources have since changed</a:t>
                      </a:r>
                    </a:p>
                  </a:txBody>
                  <a:tcPr marL="152396" marR="152396" marT="101597" marB="101597">
                    <a:solidFill>
                      <a:srgbClr val="FBF9F4"/>
                    </a:solidFill>
                  </a:tcPr>
                </a:tc>
                <a:tc>
                  <a:txBody>
                    <a:bodyPr/>
                    <a:lstStyle/>
                    <a:p>
                      <a:r>
                        <a:rPr sz="1400" b="0">
                          <a:solidFill>
                            <a:srgbClr val="3C4656"/>
                          </a:solidFill>
                          <a:latin typeface="Calibri"/>
                        </a:rPr>
                        <a:t>History that is captured, never reconstructed</a:t>
                      </a:r>
                    </a:p>
                  </a:txBody>
                  <a:tcPr marL="152396" marR="152396" marT="101597" marB="101597">
                    <a:solidFill>
                      <a:srgbClr val="FBF9F4"/>
                    </a:solidFill>
                  </a:tcPr>
                </a:tc>
              </a:tr>
              <a:tr h="698482">
                <a:tc>
                  <a:txBody>
                    <a:bodyPr/>
                    <a:lstStyle/>
                    <a:p>
                      <a:r>
                        <a:rPr sz="1400" b="1">
                          <a:solidFill>
                            <a:srgbClr val="E38B3A"/>
                          </a:solidFill>
                          <a:latin typeface="Calibri"/>
                        </a:rPr>
                        <a:t>Q3</a:t>
                      </a:r>
                    </a:p>
                  </a:txBody>
                  <a:tcPr marL="152396" marR="152396" marT="101597" marB="101597">
                    <a:solidFill>
                      <a:srgbClr val="FFFFFF"/>
                    </a:solidFill>
                  </a:tcPr>
                </a:tc>
                <a:tc>
                  <a:txBody>
                    <a:bodyPr/>
                    <a:lstStyle/>
                    <a:p>
                      <a:r>
                        <a:rPr sz="1400" b="0">
                          <a:solidFill>
                            <a:srgbClr val="3C4656"/>
                          </a:solidFill>
                          <a:latin typeface="Calibri"/>
                        </a:rPr>
                        <a:t>Each morning: offers expiring in 24 hours and unaccepted, plus offers expired without action in 7 days</a:t>
                      </a:r>
                    </a:p>
                  </a:txBody>
                  <a:tcPr marL="152396" marR="152396" marT="101597" marB="101597">
                    <a:solidFill>
                      <a:srgbClr val="FFFFFF"/>
                    </a:solidFill>
                  </a:tcPr>
                </a:tc>
                <a:tc>
                  <a:txBody>
                    <a:bodyPr/>
                    <a:lstStyle/>
                    <a:p>
                      <a:r>
                        <a:rPr sz="1400" b="0">
                          <a:solidFill>
                            <a:srgbClr val="3C4656"/>
                          </a:solidFill>
                          <a:latin typeface="Calibri"/>
                        </a:rPr>
                        <a:t>An operational list with a record of what ops was told</a:t>
                      </a:r>
                    </a:p>
                  </a:txBody>
                  <a:tcPr marL="152396" marR="152396" marT="101597" marB="101597">
                    <a:solidFill>
                      <a:srgbClr val="FFFFFF"/>
                    </a:solidFill>
                  </a:tcPr>
                </a:tc>
              </a:tr>
              <a:tr h="698482">
                <a:tc>
                  <a:txBody>
                    <a:bodyPr/>
                    <a:lstStyle/>
                    <a:p>
                      <a:r>
                        <a:rPr sz="1400" b="1">
                          <a:solidFill>
                            <a:srgbClr val="E38B3A"/>
                          </a:solidFill>
                          <a:latin typeface="Calibri"/>
                        </a:rPr>
                        <a:t>Q4</a:t>
                      </a:r>
                    </a:p>
                  </a:txBody>
                  <a:tcPr marL="152396" marR="152396" marT="101597" marB="101597">
                    <a:solidFill>
                      <a:srgbClr val="FBF9F4"/>
                    </a:solidFill>
                  </a:tcPr>
                </a:tc>
                <a:tc>
                  <a:txBody>
                    <a:bodyPr/>
                    <a:lstStyle/>
                    <a:p>
                      <a:r>
                        <a:rPr sz="1400" b="0">
                          <a:solidFill>
                            <a:srgbClr val="3C4656"/>
                          </a:solidFill>
                          <a:latin typeface="Calibri"/>
                        </a:rPr>
                        <a:t>Prove to a regulator that PII was masked before any analyst touched the funnel data for a quarter</a:t>
                      </a:r>
                    </a:p>
                  </a:txBody>
                  <a:tcPr marL="152396" marR="152396" marT="101597" marB="101597">
                    <a:solidFill>
                      <a:srgbClr val="FBF9F4"/>
                    </a:solidFill>
                  </a:tcPr>
                </a:tc>
                <a:tc>
                  <a:txBody>
                    <a:bodyPr/>
                    <a:lstStyle/>
                    <a:p>
                      <a:r>
                        <a:rPr sz="1400" b="0">
                          <a:solidFill>
                            <a:srgbClr val="3C4656"/>
                          </a:solidFill>
                          <a:latin typeface="Calibri"/>
                        </a:rPr>
                        <a:t>Evidence, not configuration</a:t>
                      </a:r>
                    </a:p>
                  </a:txBody>
                  <a:tcPr marL="152396" marR="152396" marT="101597" marB="101597">
                    <a:solidFill>
                      <a:srgbClr val="FBF9F4"/>
                    </a:solidFill>
                  </a:tcPr>
                </a:tc>
              </a:tr>
            </a:tbl>
          </a:graphicData>
        </a:graphic>
      </p:graphicFrame>
      <p:sp>
        <p:nvSpPr>
          <p:cNvPr id="4" name="TextBox 3"/>
          <p:cNvSpPr txBox="1"/>
          <p:nvPr/>
        </p:nvSpPr>
        <p:spPr>
          <a:xfrm>
            <a:off x="812779" y="5206869"/>
            <a:ext cx="10566135" cy="507987"/>
          </a:xfrm>
          <a:prstGeom prst="rect">
            <a:avLst/>
          </a:prstGeom>
          <a:noFill/>
        </p:spPr>
        <p:txBody>
          <a:bodyPr wrap="square" lIns="0" rIns="0" tIns="0" bIns="0" anchor="t">
            <a:spAutoFit/>
          </a:bodyPr>
          <a:lstStyle/>
          <a:p>
            <a:pPr algn="l">
              <a:lnSpc>
                <a:spcPct val="130000"/>
              </a:lnSpc>
            </a:pPr>
            <a:r>
              <a:rPr sz="1400" b="0" i="0">
                <a:solidFill>
                  <a:srgbClr val="3C4656"/>
                </a:solidFill>
                <a:latin typeface="Calibri"/>
              </a:rPr>
              <a:t>Three words carry the whole design: </a:t>
            </a:r>
            <a:r>
              <a:rPr sz="1400" b="1" i="0">
                <a:solidFill>
                  <a:srgbClr val="3C4656"/>
                </a:solidFill>
                <a:latin typeface="Calibri"/>
              </a:rPr>
              <a:t>append-only</a:t>
            </a:r>
            <a:r>
              <a:rPr sz="1400" b="0" i="0">
                <a:solidFill>
                  <a:srgbClr val="3C4656"/>
                </a:solidFill>
                <a:latin typeface="Calibri"/>
              </a:rPr>
              <a:t> capture, </a:t>
            </a:r>
            <a:r>
              <a:rPr sz="1400" b="1" i="0">
                <a:solidFill>
                  <a:srgbClr val="3C4656"/>
                </a:solidFill>
                <a:latin typeface="Calibri"/>
              </a:rPr>
              <a:t>as-of</a:t>
            </a:r>
            <a:r>
              <a:rPr sz="1400" b="0" i="0">
                <a:solidFill>
                  <a:srgbClr val="3C4656"/>
                </a:solidFill>
                <a:latin typeface="Calibri"/>
              </a:rPr>
              <a:t> reads, and an </a:t>
            </a:r>
            <a:r>
              <a:rPr sz="1400" b="1" i="0">
                <a:solidFill>
                  <a:srgbClr val="3C4656"/>
                </a:solidFill>
                <a:latin typeface="Calibri"/>
              </a:rPr>
              <a:t>honest</a:t>
            </a:r>
            <a:r>
              <a:rPr sz="1400" b="0" i="0">
                <a:solidFill>
                  <a:srgbClr val="3C4656"/>
                </a:solidFill>
                <a:latin typeface="Calibri"/>
              </a:rPr>
              <a:t> answer that says what was not captured.</a:t>
            </a:r>
          </a:p>
        </p:txBody>
      </p:sp>
      <p:sp>
        <p:nvSpPr>
          <p:cNvPr id="5" name="TextBox 4"/>
          <p:cNvSpPr txBox="1"/>
          <p:nvPr/>
        </p:nvSpPr>
        <p:spPr>
          <a:xfrm>
            <a:off x="10997925" y="6260943"/>
            <a:ext cx="380990" cy="215894"/>
          </a:xfrm>
          <a:prstGeom prst="rect">
            <a:avLst/>
          </a:prstGeom>
          <a:noFill/>
        </p:spPr>
        <p:txBody>
          <a:bodyPr wrap="square" lIns="0" rIns="0" tIns="0" bIns="0" anchor="t">
            <a:spAutoFit/>
          </a:bodyPr>
          <a:lstStyle/>
          <a:p>
            <a:pPr algn="r">
              <a:lnSpc>
                <a:spcPct val="120000"/>
              </a:lnSpc>
            </a:pPr>
            <a:r>
              <a:rPr sz="1100" b="0" i="0">
                <a:solidFill>
                  <a:srgbClr val="6B7484"/>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812779" y="812779"/>
            <a:ext cx="10566135" cy="952476"/>
          </a:xfrm>
          <a:prstGeom prst="rect">
            <a:avLst/>
          </a:prstGeom>
          <a:noFill/>
        </p:spPr>
        <p:txBody>
          <a:bodyPr wrap="square" lIns="0" rIns="0" tIns="0" bIns="0" anchor="t">
            <a:spAutoFit/>
          </a:bodyPr>
          <a:lstStyle/>
          <a:p>
            <a:pPr algn="l">
              <a:lnSpc>
                <a:spcPct val="110000"/>
              </a:lnSpc>
            </a:pPr>
            <a:r>
              <a:rPr sz="3000" b="1" i="0">
                <a:solidFill>
                  <a:srgbClr val="15223A"/>
                </a:solidFill>
                <a:latin typeface="Cambria"/>
              </a:rPr>
              <a:t>One capture path feeds both speeds, so they cannot disagree</a:t>
            </a:r>
          </a:p>
        </p:txBody>
      </p:sp>
      <p:sp>
        <p:nvSpPr>
          <p:cNvPr id="3" name="Rectangle 2"/>
          <p:cNvSpPr/>
          <p:nvPr/>
        </p:nvSpPr>
        <p:spPr>
          <a:xfrm>
            <a:off x="812779" y="1904952"/>
            <a:ext cx="6857828" cy="3428914"/>
          </a:xfrm>
          <a:prstGeom prst="rect">
            <a:avLst/>
          </a:prstGeom>
          <a:solidFill>
            <a:srgbClr val="FFFFFF"/>
          </a:solidFill>
          <a:ln w="952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2.png"/>
          <p:cNvPicPr>
            <a:picLocks noChangeAspect="1"/>
          </p:cNvPicPr>
          <p:nvPr/>
        </p:nvPicPr>
        <p:blipFill>
          <a:blip r:embed="rId2"/>
          <a:stretch>
            <a:fillRect/>
          </a:stretch>
        </p:blipFill>
        <p:spPr>
          <a:xfrm>
            <a:off x="888977" y="1993490"/>
            <a:ext cx="6705432" cy="3251837"/>
          </a:xfrm>
          <a:prstGeom prst="rect">
            <a:avLst/>
          </a:prstGeom>
        </p:spPr>
      </p:pic>
      <p:sp>
        <p:nvSpPr>
          <p:cNvPr id="5" name="Rectangle 4"/>
          <p:cNvSpPr/>
          <p:nvPr/>
        </p:nvSpPr>
        <p:spPr>
          <a:xfrm>
            <a:off x="7924601" y="1904952"/>
            <a:ext cx="3454313" cy="1206469"/>
          </a:xfrm>
          <a:prstGeom prst="rect">
            <a:avLst/>
          </a:prstGeom>
          <a:solidFill>
            <a:srgbClr val="FFFFFF"/>
          </a:solidFill>
          <a:ln w="952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02397" y="2057348"/>
            <a:ext cx="3098722" cy="253993"/>
          </a:xfrm>
          <a:prstGeom prst="rect">
            <a:avLst/>
          </a:prstGeom>
          <a:noFill/>
        </p:spPr>
        <p:txBody>
          <a:bodyPr wrap="square" lIns="0" rIns="0" tIns="0" bIns="0" anchor="t">
            <a:spAutoFit/>
          </a:bodyPr>
          <a:lstStyle/>
          <a:p>
            <a:pPr algn="l">
              <a:lnSpc>
                <a:spcPct val="120000"/>
              </a:lnSpc>
            </a:pPr>
            <a:r>
              <a:rPr sz="1400" b="1" i="0">
                <a:solidFill>
                  <a:srgbClr val="E38B3A"/>
                </a:solidFill>
                <a:latin typeface="Calibri"/>
              </a:rPr>
              <a:t>Capture</a:t>
            </a:r>
          </a:p>
        </p:txBody>
      </p:sp>
      <p:sp>
        <p:nvSpPr>
          <p:cNvPr id="7" name="TextBox 6"/>
          <p:cNvSpPr txBox="1"/>
          <p:nvPr/>
        </p:nvSpPr>
        <p:spPr>
          <a:xfrm>
            <a:off x="8102397" y="2349441"/>
            <a:ext cx="3098722" cy="634984"/>
          </a:xfrm>
          <a:prstGeom prst="rect">
            <a:avLst/>
          </a:prstGeom>
          <a:noFill/>
        </p:spPr>
        <p:txBody>
          <a:bodyPr wrap="square" lIns="0" rIns="0" tIns="0" bIns="0" anchor="t">
            <a:spAutoFit/>
          </a:bodyPr>
          <a:lstStyle/>
          <a:p>
            <a:pPr algn="l">
              <a:lnSpc>
                <a:spcPct val="125000"/>
              </a:lnSpc>
            </a:pPr>
            <a:r>
              <a:rPr sz="1200" b="0" i="0">
                <a:solidFill>
                  <a:srgbClr val="3C4656"/>
                </a:solidFill>
                <a:latin typeface="Calibri"/>
              </a:rPr>
              <a:t>DMS reads each writer’s binlog into one-minute S3 files. Bronze is an append-only change log, full refresh blocked.</a:t>
            </a:r>
          </a:p>
        </p:txBody>
      </p:sp>
      <p:sp>
        <p:nvSpPr>
          <p:cNvPr id="8" name="Rectangle 7"/>
          <p:cNvSpPr/>
          <p:nvPr/>
        </p:nvSpPr>
        <p:spPr>
          <a:xfrm>
            <a:off x="7924601" y="3213019"/>
            <a:ext cx="3454313" cy="1206469"/>
          </a:xfrm>
          <a:prstGeom prst="rect">
            <a:avLst/>
          </a:prstGeom>
          <a:solidFill>
            <a:srgbClr val="FFFFFF"/>
          </a:solidFill>
          <a:ln w="952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02397" y="3365415"/>
            <a:ext cx="3098722" cy="253993"/>
          </a:xfrm>
          <a:prstGeom prst="rect">
            <a:avLst/>
          </a:prstGeom>
          <a:noFill/>
        </p:spPr>
        <p:txBody>
          <a:bodyPr wrap="square" lIns="0" rIns="0" tIns="0" bIns="0" anchor="t">
            <a:spAutoFit/>
          </a:bodyPr>
          <a:lstStyle/>
          <a:p>
            <a:pPr algn="l">
              <a:lnSpc>
                <a:spcPct val="120000"/>
              </a:lnSpc>
            </a:pPr>
            <a:r>
              <a:rPr sz="1400" b="1" i="0">
                <a:solidFill>
                  <a:srgbClr val="1F6F8B"/>
                </a:solidFill>
                <a:latin typeface="Calibri"/>
              </a:rPr>
              <a:t>Daily route</a:t>
            </a:r>
          </a:p>
        </p:txBody>
      </p:sp>
      <p:sp>
        <p:nvSpPr>
          <p:cNvPr id="10" name="TextBox 9"/>
          <p:cNvSpPr txBox="1"/>
          <p:nvPr/>
        </p:nvSpPr>
        <p:spPr>
          <a:xfrm>
            <a:off x="8102397" y="3657508"/>
            <a:ext cx="3098722" cy="634984"/>
          </a:xfrm>
          <a:prstGeom prst="rect">
            <a:avLst/>
          </a:prstGeom>
          <a:noFill/>
        </p:spPr>
        <p:txBody>
          <a:bodyPr wrap="square" lIns="0" rIns="0" tIns="0" bIns="0" anchor="t">
            <a:spAutoFit/>
          </a:bodyPr>
          <a:lstStyle/>
          <a:p>
            <a:pPr algn="l">
              <a:lnSpc>
                <a:spcPct val="125000"/>
              </a:lnSpc>
            </a:pPr>
            <a:r>
              <a:rPr sz="1200" b="0" i="0">
                <a:solidFill>
                  <a:srgbClr val="3C4656"/>
                </a:solidFill>
                <a:latin typeface="Calibri"/>
              </a:rPr>
              <a:t>Silver and Gold are one dbt project, rebuilt from Bronze at 05:00, tunable to 30 minutes.</a:t>
            </a:r>
          </a:p>
        </p:txBody>
      </p:sp>
      <p:sp>
        <p:nvSpPr>
          <p:cNvPr id="11" name="Rectangle 10"/>
          <p:cNvSpPr/>
          <p:nvPr/>
        </p:nvSpPr>
        <p:spPr>
          <a:xfrm>
            <a:off x="7924601" y="4521086"/>
            <a:ext cx="3454313" cy="1206469"/>
          </a:xfrm>
          <a:prstGeom prst="rect">
            <a:avLst/>
          </a:prstGeom>
          <a:solidFill>
            <a:srgbClr val="FFFFFF"/>
          </a:solidFill>
          <a:ln w="952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02397" y="4673483"/>
            <a:ext cx="3098722" cy="253993"/>
          </a:xfrm>
          <a:prstGeom prst="rect">
            <a:avLst/>
          </a:prstGeom>
          <a:noFill/>
        </p:spPr>
        <p:txBody>
          <a:bodyPr wrap="square" lIns="0" rIns="0" tIns="0" bIns="0" anchor="t">
            <a:spAutoFit/>
          </a:bodyPr>
          <a:lstStyle/>
          <a:p>
            <a:pPr algn="l">
              <a:lnSpc>
                <a:spcPct val="120000"/>
              </a:lnSpc>
            </a:pPr>
            <a:r>
              <a:rPr sz="1400" b="1" i="0">
                <a:solidFill>
                  <a:srgbClr val="15223A"/>
                </a:solidFill>
                <a:latin typeface="Calibri"/>
              </a:rPr>
              <a:t>Minutes route</a:t>
            </a:r>
          </a:p>
        </p:txBody>
      </p:sp>
      <p:sp>
        <p:nvSpPr>
          <p:cNvPr id="13" name="TextBox 12"/>
          <p:cNvSpPr txBox="1"/>
          <p:nvPr/>
        </p:nvSpPr>
        <p:spPr>
          <a:xfrm>
            <a:off x="8102397" y="4965575"/>
            <a:ext cx="3098722" cy="634984"/>
          </a:xfrm>
          <a:prstGeom prst="rect">
            <a:avLst/>
          </a:prstGeom>
          <a:noFill/>
        </p:spPr>
        <p:txBody>
          <a:bodyPr wrap="square" lIns="0" rIns="0" tIns="0" bIns="0" anchor="t">
            <a:spAutoFit/>
          </a:bodyPr>
          <a:lstStyle/>
          <a:p>
            <a:pPr algn="l">
              <a:lnSpc>
                <a:spcPct val="125000"/>
              </a:lnSpc>
            </a:pPr>
            <a:r>
              <a:rPr sz="1200" b="0" i="0">
                <a:solidFill>
                  <a:srgbClr val="3C4656"/>
                </a:solidFill>
                <a:latin typeface="Calibri"/>
              </a:rPr>
              <a:t>One stream reads the same landing files. Nothing is real-time unless a question needs it.</a:t>
            </a:r>
          </a:p>
        </p:txBody>
      </p:sp>
      <p:sp>
        <p:nvSpPr>
          <p:cNvPr id="14" name="TextBox 13"/>
          <p:cNvSpPr txBox="1"/>
          <p:nvPr/>
        </p:nvSpPr>
        <p:spPr>
          <a:xfrm>
            <a:off x="812779" y="6260943"/>
            <a:ext cx="8889777" cy="215894"/>
          </a:xfrm>
          <a:prstGeom prst="rect">
            <a:avLst/>
          </a:prstGeom>
          <a:noFill/>
        </p:spPr>
        <p:txBody>
          <a:bodyPr wrap="square" lIns="0" rIns="0" tIns="0" bIns="0" anchor="t">
            <a:spAutoFit/>
          </a:bodyPr>
          <a:lstStyle/>
          <a:p>
            <a:pPr algn="l">
              <a:lnSpc>
                <a:spcPct val="120000"/>
              </a:lnSpc>
            </a:pPr>
            <a:r>
              <a:rPr sz="1100" b="0" i="0">
                <a:solidFill>
                  <a:srgbClr val="6B7484"/>
                </a:solidFill>
                <a:latin typeface="Calibri"/>
              </a:rPr>
              <a:t>Figure 2 in the document. Orange marks where clear identifiers may live: landing, Bronze, restricted.</a:t>
            </a:r>
          </a:p>
        </p:txBody>
      </p:sp>
      <p:sp>
        <p:nvSpPr>
          <p:cNvPr id="15" name="TextBox 14"/>
          <p:cNvSpPr txBox="1"/>
          <p:nvPr/>
        </p:nvSpPr>
        <p:spPr>
          <a:xfrm>
            <a:off x="10997925" y="6260943"/>
            <a:ext cx="380990" cy="215894"/>
          </a:xfrm>
          <a:prstGeom prst="rect">
            <a:avLst/>
          </a:prstGeom>
          <a:noFill/>
        </p:spPr>
        <p:txBody>
          <a:bodyPr wrap="square" lIns="0" rIns="0" tIns="0" bIns="0" anchor="t">
            <a:spAutoFit/>
          </a:bodyPr>
          <a:lstStyle/>
          <a:p>
            <a:pPr algn="r">
              <a:lnSpc>
                <a:spcPct val="120000"/>
              </a:lnSpc>
            </a:pPr>
            <a:r>
              <a:rPr sz="1100" b="0" i="0">
                <a:solidFill>
                  <a:srgbClr val="6B7484"/>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812779" y="812779"/>
            <a:ext cx="10566135" cy="952476"/>
          </a:xfrm>
          <a:prstGeom prst="rect">
            <a:avLst/>
          </a:prstGeom>
          <a:noFill/>
        </p:spPr>
        <p:txBody>
          <a:bodyPr wrap="square" lIns="0" rIns="0" tIns="0" bIns="0" anchor="t">
            <a:spAutoFit/>
          </a:bodyPr>
          <a:lstStyle/>
          <a:p>
            <a:pPr algn="l">
              <a:lnSpc>
                <a:spcPct val="110000"/>
              </a:lnSpc>
            </a:pPr>
            <a:r>
              <a:rPr sz="3000" b="1" i="0">
                <a:solidFill>
                  <a:srgbClr val="15223A"/>
                </a:solidFill>
                <a:latin typeface="Cambria"/>
              </a:rPr>
              <a:t>The one stream: record the alert first, then send it</a:t>
            </a:r>
          </a:p>
        </p:txBody>
      </p:sp>
      <p:sp>
        <p:nvSpPr>
          <p:cNvPr id="3" name="Rectangle 2"/>
          <p:cNvSpPr/>
          <p:nvPr/>
        </p:nvSpPr>
        <p:spPr>
          <a:xfrm>
            <a:off x="812779" y="1841453"/>
            <a:ext cx="10566135" cy="2666933"/>
          </a:xfrm>
          <a:prstGeom prst="rect">
            <a:avLst/>
          </a:prstGeom>
          <a:solidFill>
            <a:srgbClr val="FFFFFF"/>
          </a:solidFill>
          <a:ln w="952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3.png"/>
          <p:cNvPicPr>
            <a:picLocks noChangeAspect="1"/>
          </p:cNvPicPr>
          <p:nvPr/>
        </p:nvPicPr>
        <p:blipFill>
          <a:blip r:embed="rId2"/>
          <a:stretch>
            <a:fillRect/>
          </a:stretch>
        </p:blipFill>
        <p:spPr>
          <a:xfrm>
            <a:off x="1326897" y="1917652"/>
            <a:ext cx="9537899" cy="2514537"/>
          </a:xfrm>
          <a:prstGeom prst="rect">
            <a:avLst/>
          </a:prstGeom>
        </p:spPr>
      </p:pic>
      <p:sp>
        <p:nvSpPr>
          <p:cNvPr id="5" name="Rectangle 4"/>
          <p:cNvSpPr/>
          <p:nvPr/>
        </p:nvSpPr>
        <p:spPr>
          <a:xfrm>
            <a:off x="812779" y="4698882"/>
            <a:ext cx="3384465" cy="1269968"/>
          </a:xfrm>
          <a:prstGeom prst="rect">
            <a:avLst/>
          </a:prstGeom>
          <a:solidFill>
            <a:srgbClr val="FFFFFF"/>
          </a:solidFill>
          <a:ln w="952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0575" y="4851278"/>
            <a:ext cx="3028874" cy="253993"/>
          </a:xfrm>
          <a:prstGeom prst="rect">
            <a:avLst/>
          </a:prstGeom>
          <a:noFill/>
        </p:spPr>
        <p:txBody>
          <a:bodyPr wrap="square" lIns="0" rIns="0" tIns="0" bIns="0" anchor="t">
            <a:spAutoFit/>
          </a:bodyPr>
          <a:lstStyle/>
          <a:p>
            <a:pPr algn="l">
              <a:lnSpc>
                <a:spcPct val="120000"/>
              </a:lnSpc>
            </a:pPr>
            <a:r>
              <a:rPr sz="1400" b="1" i="0">
                <a:solidFill>
                  <a:srgbClr val="E38B3A"/>
                </a:solidFill>
                <a:latin typeface="Calibri"/>
              </a:rPr>
              <a:t>Outbox</a:t>
            </a:r>
          </a:p>
        </p:txBody>
      </p:sp>
      <p:sp>
        <p:nvSpPr>
          <p:cNvPr id="7" name="TextBox 6"/>
          <p:cNvSpPr txBox="1"/>
          <p:nvPr/>
        </p:nvSpPr>
        <p:spPr>
          <a:xfrm>
            <a:off x="990575" y="5143371"/>
            <a:ext cx="3028874" cy="698482"/>
          </a:xfrm>
          <a:prstGeom prst="rect">
            <a:avLst/>
          </a:prstGeom>
          <a:noFill/>
        </p:spPr>
        <p:txBody>
          <a:bodyPr wrap="square" lIns="0" rIns="0" tIns="0" bIns="0" anchor="t">
            <a:spAutoFit/>
          </a:bodyPr>
          <a:lstStyle/>
          <a:p>
            <a:pPr algn="l">
              <a:lnSpc>
                <a:spcPct val="125000"/>
              </a:lnSpc>
            </a:pPr>
            <a:r>
              <a:rPr sz="1200" b="0" i="0">
                <a:solidFill>
                  <a:srgbClr val="3C4656"/>
                </a:solidFill>
                <a:latin typeface="Calibri"/>
              </a:rPr>
              <a:t>The alert table is the outbox. A crash between record and send never loses an alert.</a:t>
            </a:r>
          </a:p>
        </p:txBody>
      </p:sp>
      <p:sp>
        <p:nvSpPr>
          <p:cNvPr id="8" name="Rectangle 7"/>
          <p:cNvSpPr/>
          <p:nvPr/>
        </p:nvSpPr>
        <p:spPr>
          <a:xfrm>
            <a:off x="4400439" y="4698882"/>
            <a:ext cx="3384465" cy="1269968"/>
          </a:xfrm>
          <a:prstGeom prst="rect">
            <a:avLst/>
          </a:prstGeom>
          <a:solidFill>
            <a:srgbClr val="FFFFFF"/>
          </a:solidFill>
          <a:ln w="952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8235" y="4851278"/>
            <a:ext cx="3028874" cy="253993"/>
          </a:xfrm>
          <a:prstGeom prst="rect">
            <a:avLst/>
          </a:prstGeom>
          <a:noFill/>
        </p:spPr>
        <p:txBody>
          <a:bodyPr wrap="square" lIns="0" rIns="0" tIns="0" bIns="0" anchor="t">
            <a:spAutoFit/>
          </a:bodyPr>
          <a:lstStyle/>
          <a:p>
            <a:pPr algn="l">
              <a:lnSpc>
                <a:spcPct val="120000"/>
              </a:lnSpc>
            </a:pPr>
            <a:r>
              <a:rPr sz="1400" b="1" i="0">
                <a:solidFill>
                  <a:srgbClr val="E38B3A"/>
                </a:solidFill>
                <a:latin typeface="Calibri"/>
              </a:rPr>
              <a:t>Deterministic id</a:t>
            </a:r>
          </a:p>
        </p:txBody>
      </p:sp>
      <p:sp>
        <p:nvSpPr>
          <p:cNvPr id="10" name="TextBox 9"/>
          <p:cNvSpPr txBox="1"/>
          <p:nvPr/>
        </p:nvSpPr>
        <p:spPr>
          <a:xfrm>
            <a:off x="4578235" y="5143371"/>
            <a:ext cx="3028874" cy="698482"/>
          </a:xfrm>
          <a:prstGeom prst="rect">
            <a:avLst/>
          </a:prstGeom>
          <a:noFill/>
        </p:spPr>
        <p:txBody>
          <a:bodyPr wrap="square" lIns="0" rIns="0" tIns="0" bIns="0" anchor="t">
            <a:spAutoFit/>
          </a:bodyPr>
          <a:lstStyle/>
          <a:p>
            <a:pPr algn="l">
              <a:lnSpc>
                <a:spcPct val="125000"/>
              </a:lnSpc>
            </a:pPr>
            <a:r>
              <a:rPr sz="1200" b="0" i="0">
                <a:solidFill>
                  <a:srgbClr val="3C4656"/>
                </a:solidFill>
                <a:latin typeface="Calibri"/>
              </a:rPr>
              <a:t>Disbursement id, change sequence and rule. A replay sends the same id; the receiver drops the duplicate.</a:t>
            </a:r>
          </a:p>
        </p:txBody>
      </p:sp>
      <p:sp>
        <p:nvSpPr>
          <p:cNvPr id="11" name="Rectangle 10"/>
          <p:cNvSpPr/>
          <p:nvPr/>
        </p:nvSpPr>
        <p:spPr>
          <a:xfrm>
            <a:off x="7988100" y="4698882"/>
            <a:ext cx="3384465" cy="1269968"/>
          </a:xfrm>
          <a:prstGeom prst="rect">
            <a:avLst/>
          </a:prstGeom>
          <a:solidFill>
            <a:srgbClr val="FFFFFF"/>
          </a:solidFill>
          <a:ln w="952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65895" y="4851278"/>
            <a:ext cx="3028874" cy="253993"/>
          </a:xfrm>
          <a:prstGeom prst="rect">
            <a:avLst/>
          </a:prstGeom>
          <a:noFill/>
        </p:spPr>
        <p:txBody>
          <a:bodyPr wrap="square" lIns="0" rIns="0" tIns="0" bIns="0" anchor="t">
            <a:spAutoFit/>
          </a:bodyPr>
          <a:lstStyle/>
          <a:p>
            <a:pPr algn="l">
              <a:lnSpc>
                <a:spcPct val="120000"/>
              </a:lnSpc>
            </a:pPr>
            <a:r>
              <a:rPr sz="1400" b="1" i="0">
                <a:solidFill>
                  <a:srgbClr val="E38B3A"/>
                </a:solidFill>
                <a:latin typeface="Calibri"/>
              </a:rPr>
              <a:t>Backstop</a:t>
            </a:r>
          </a:p>
        </p:txBody>
      </p:sp>
      <p:sp>
        <p:nvSpPr>
          <p:cNvPr id="13" name="TextBox 12"/>
          <p:cNvSpPr txBox="1"/>
          <p:nvPr/>
        </p:nvSpPr>
        <p:spPr>
          <a:xfrm>
            <a:off x="8165895" y="5143371"/>
            <a:ext cx="3028874" cy="698482"/>
          </a:xfrm>
          <a:prstGeom prst="rect">
            <a:avLst/>
          </a:prstGeom>
          <a:noFill/>
        </p:spPr>
        <p:txBody>
          <a:bodyPr wrap="square" lIns="0" rIns="0" tIns="0" bIns="0" anchor="t">
            <a:spAutoFit/>
          </a:bodyPr>
          <a:lstStyle/>
          <a:p>
            <a:pPr algn="l">
              <a:lnSpc>
                <a:spcPct val="125000"/>
              </a:lnSpc>
            </a:pPr>
            <a:r>
              <a:rPr sz="1200" b="0" i="0">
                <a:solidFill>
                  <a:srgbClr val="3C4656"/>
                </a:solidFill>
                <a:latin typeface="Calibri"/>
              </a:rPr>
              <a:t>The daily build re-tests every disbursement, so anything the stream misses is caught by morning.</a:t>
            </a:r>
          </a:p>
        </p:txBody>
      </p:sp>
      <p:sp>
        <p:nvSpPr>
          <p:cNvPr id="14" name="TextBox 13"/>
          <p:cNvSpPr txBox="1"/>
          <p:nvPr/>
        </p:nvSpPr>
        <p:spPr>
          <a:xfrm>
            <a:off x="812779" y="6260943"/>
            <a:ext cx="8889777" cy="215894"/>
          </a:xfrm>
          <a:prstGeom prst="rect">
            <a:avLst/>
          </a:prstGeom>
          <a:noFill/>
        </p:spPr>
        <p:txBody>
          <a:bodyPr wrap="square" lIns="0" rIns="0" tIns="0" bIns="0" anchor="t">
            <a:spAutoFit/>
          </a:bodyPr>
          <a:lstStyle/>
          <a:p>
            <a:pPr algn="l">
              <a:lnSpc>
                <a:spcPct val="120000"/>
              </a:lnSpc>
            </a:pPr>
            <a:r>
              <a:rPr sz="1100" b="0" i="0">
                <a:solidFill>
                  <a:srgbClr val="6B7484"/>
                </a:solidFill>
                <a:latin typeface="Calibri"/>
              </a:rPr>
              <a:t>Figure 3 in the document. Kafka is the target until ops confirms what its tooling reads.</a:t>
            </a:r>
          </a:p>
        </p:txBody>
      </p:sp>
      <p:sp>
        <p:nvSpPr>
          <p:cNvPr id="15" name="TextBox 14"/>
          <p:cNvSpPr txBox="1"/>
          <p:nvPr/>
        </p:nvSpPr>
        <p:spPr>
          <a:xfrm>
            <a:off x="10997925" y="6260943"/>
            <a:ext cx="380990" cy="215894"/>
          </a:xfrm>
          <a:prstGeom prst="rect">
            <a:avLst/>
          </a:prstGeom>
          <a:noFill/>
        </p:spPr>
        <p:txBody>
          <a:bodyPr wrap="square" lIns="0" rIns="0" tIns="0" bIns="0" anchor="t">
            <a:spAutoFit/>
          </a:bodyPr>
          <a:lstStyle/>
          <a:p>
            <a:pPr algn="r">
              <a:lnSpc>
                <a:spcPct val="120000"/>
              </a:lnSpc>
            </a:pPr>
            <a:r>
              <a:rPr sz="1100" b="0" i="0">
                <a:solidFill>
                  <a:srgbClr val="6B7484"/>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812779" y="812779"/>
            <a:ext cx="10566135" cy="952476"/>
          </a:xfrm>
          <a:prstGeom prst="rect">
            <a:avLst/>
          </a:prstGeom>
          <a:noFill/>
        </p:spPr>
        <p:txBody>
          <a:bodyPr wrap="square" lIns="0" rIns="0" tIns="0" bIns="0" anchor="t">
            <a:spAutoFit/>
          </a:bodyPr>
          <a:lstStyle/>
          <a:p>
            <a:pPr algn="l">
              <a:lnSpc>
                <a:spcPct val="110000"/>
              </a:lnSpc>
            </a:pPr>
            <a:r>
              <a:rPr sz="3000" b="1" i="0">
                <a:solidFill>
                  <a:srgbClr val="15223A"/>
                </a:solidFill>
                <a:latin typeface="Cambria"/>
              </a:rPr>
              <a:t>History is captured, never reconstructed, and a gap says so</a:t>
            </a:r>
          </a:p>
        </p:txBody>
      </p:sp>
      <p:sp>
        <p:nvSpPr>
          <p:cNvPr id="3" name="Rectangle 2"/>
          <p:cNvSpPr/>
          <p:nvPr/>
        </p:nvSpPr>
        <p:spPr>
          <a:xfrm>
            <a:off x="812779" y="1904952"/>
            <a:ext cx="6349841" cy="2793930"/>
          </a:xfrm>
          <a:prstGeom prst="rect">
            <a:avLst/>
          </a:prstGeom>
          <a:solidFill>
            <a:srgbClr val="FFFFFF"/>
          </a:solidFill>
          <a:ln w="952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4.png"/>
          <p:cNvPicPr>
            <a:picLocks noChangeAspect="1"/>
          </p:cNvPicPr>
          <p:nvPr/>
        </p:nvPicPr>
        <p:blipFill>
          <a:blip r:embed="rId2"/>
          <a:stretch>
            <a:fillRect/>
          </a:stretch>
        </p:blipFill>
        <p:spPr>
          <a:xfrm>
            <a:off x="916149" y="1981150"/>
            <a:ext cx="6143102" cy="2641533"/>
          </a:xfrm>
          <a:prstGeom prst="rect">
            <a:avLst/>
          </a:prstGeom>
        </p:spPr>
      </p:pic>
      <p:sp>
        <p:nvSpPr>
          <p:cNvPr id="5" name="TextBox 4"/>
          <p:cNvSpPr txBox="1"/>
          <p:nvPr/>
        </p:nvSpPr>
        <p:spPr>
          <a:xfrm>
            <a:off x="7416614" y="1904952"/>
            <a:ext cx="3962300" cy="4063898"/>
          </a:xfrm>
          <a:prstGeom prst="rect">
            <a:avLst/>
          </a:prstGeom>
          <a:noFill/>
        </p:spPr>
        <p:txBody>
          <a:bodyPr wrap="square" lIns="0" rIns="0" tIns="0" bIns="0">
            <a:spAutoFit/>
          </a:bodyPr>
          <a:lstStyle/>
          <a:p>
            <a:pPr>
              <a:lnSpc>
                <a:spcPct val="120000"/>
              </a:lnSpc>
              <a:spcAft>
                <a:spcPts val="900"/>
              </a:spcAft>
            </a:pPr>
            <a:r>
              <a:rPr sz="1300" b="1">
                <a:solidFill>
                  <a:srgbClr val="3C4656"/>
                </a:solidFill>
                <a:latin typeface="Calibri"/>
              </a:rPr>
              <a:t>One source row, three versions. </a:t>
            </a:r>
            <a:r>
              <a:rPr sz="1300" b="0">
                <a:solidFill>
                  <a:srgbClr val="3C4656"/>
                </a:solidFill>
                <a:latin typeface="Calibri"/>
              </a:rPr>
              <a:t>Nothing in Bronze is updated or deleted. Silver gives each version a valid-from and valid-to, and every as-of read in the design uses the same predicate.</a:t>
            </a:r>
          </a:p>
          <a:p>
            <a:pPr>
              <a:lnSpc>
                <a:spcPct val="120000"/>
              </a:lnSpc>
              <a:spcAft>
                <a:spcPts val="900"/>
              </a:spcAft>
            </a:pPr>
            <a:r>
              <a:rPr sz="1300" b="1">
                <a:solidFill>
                  <a:srgbClr val="3C4656"/>
                </a:solidFill>
                <a:latin typeface="Calibri"/>
              </a:rPr>
              <a:t>A capture gap is data. </a:t>
            </a:r>
            <a:r>
              <a:rPr sz="1300" b="0">
                <a:solidFill>
                  <a:srgbClr val="3C4656"/>
                </a:solidFill>
                <a:latin typeface="Calibri"/>
              </a:rPr>
              <a:t>A read inside it returns NOT_CAPTURED, a cohort over it freezes as HELD, and the funnel starts at the first month with no gap.</a:t>
            </a:r>
          </a:p>
          <a:p>
            <a:pPr>
              <a:lnSpc>
                <a:spcPct val="120000"/>
              </a:lnSpc>
              <a:spcAft>
                <a:spcPts val="900"/>
              </a:spcAft>
            </a:pPr>
            <a:r>
              <a:rPr sz="1300" b="1">
                <a:solidFill>
                  <a:srgbClr val="3C4656"/>
                </a:solidFill>
                <a:latin typeface="Calibri"/>
              </a:rPr>
              <a:t>One hard failure only. </a:t>
            </a:r>
            <a:r>
              <a:rPr sz="1300" b="0">
                <a:solidFill>
                  <a:srgbClr val="3C4656"/>
                </a:solidFill>
                <a:latin typeface="Calibri"/>
              </a:rPr>
              <a:t>A contracted column that disappears or changes type fails the run. An unknown enum becomes UNMAPPED, still sums, and is published as a contract violation.</a:t>
            </a:r>
          </a:p>
        </p:txBody>
      </p:sp>
      <p:sp>
        <p:nvSpPr>
          <p:cNvPr id="6" name="TextBox 5"/>
          <p:cNvSpPr txBox="1"/>
          <p:nvPr/>
        </p:nvSpPr>
        <p:spPr>
          <a:xfrm>
            <a:off x="812779" y="6260943"/>
            <a:ext cx="8889777" cy="215894"/>
          </a:xfrm>
          <a:prstGeom prst="rect">
            <a:avLst/>
          </a:prstGeom>
          <a:noFill/>
        </p:spPr>
        <p:txBody>
          <a:bodyPr wrap="square" lIns="0" rIns="0" tIns="0" bIns="0" anchor="t">
            <a:spAutoFit/>
          </a:bodyPr>
          <a:lstStyle/>
          <a:p>
            <a:pPr algn="l">
              <a:lnSpc>
                <a:spcPct val="120000"/>
              </a:lnSpc>
            </a:pPr>
            <a:r>
              <a:rPr sz="1100" b="0" i="0">
                <a:solidFill>
                  <a:srgbClr val="6B7484"/>
                </a:solidFill>
                <a:latin typeface="Calibri"/>
              </a:rPr>
              <a:t>Figure 4 in the document.</a:t>
            </a:r>
          </a:p>
        </p:txBody>
      </p:sp>
      <p:sp>
        <p:nvSpPr>
          <p:cNvPr id="7" name="TextBox 6"/>
          <p:cNvSpPr txBox="1"/>
          <p:nvPr/>
        </p:nvSpPr>
        <p:spPr>
          <a:xfrm>
            <a:off x="10997925" y="6260943"/>
            <a:ext cx="380990" cy="215894"/>
          </a:xfrm>
          <a:prstGeom prst="rect">
            <a:avLst/>
          </a:prstGeom>
          <a:noFill/>
        </p:spPr>
        <p:txBody>
          <a:bodyPr wrap="square" lIns="0" rIns="0" tIns="0" bIns="0" anchor="t">
            <a:spAutoFit/>
          </a:bodyPr>
          <a:lstStyle/>
          <a:p>
            <a:pPr algn="r">
              <a:lnSpc>
                <a:spcPct val="120000"/>
              </a:lnSpc>
            </a:pPr>
            <a:r>
              <a:rPr sz="1100" b="0" i="0">
                <a:solidFill>
                  <a:srgbClr val="6B7484"/>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812779" y="812779"/>
            <a:ext cx="10566135" cy="952476"/>
          </a:xfrm>
          <a:prstGeom prst="rect">
            <a:avLst/>
          </a:prstGeom>
          <a:noFill/>
        </p:spPr>
        <p:txBody>
          <a:bodyPr wrap="square" lIns="0" rIns="0" tIns="0" bIns="0" anchor="t">
            <a:spAutoFit/>
          </a:bodyPr>
          <a:lstStyle/>
          <a:p>
            <a:pPr algn="l">
              <a:lnSpc>
                <a:spcPct val="110000"/>
              </a:lnSpc>
            </a:pPr>
            <a:r>
              <a:rPr sz="3000" b="1" i="0">
                <a:solidFill>
                  <a:srgbClr val="15223A"/>
                </a:solidFill>
                <a:latin typeface="Cambria"/>
              </a:rPr>
              <a:t>Direct identifiers stop at one macro, one function, one principal</a:t>
            </a:r>
          </a:p>
        </p:txBody>
      </p:sp>
      <p:sp>
        <p:nvSpPr>
          <p:cNvPr id="3" name="Rectangle 2"/>
          <p:cNvSpPr/>
          <p:nvPr/>
        </p:nvSpPr>
        <p:spPr>
          <a:xfrm>
            <a:off x="812779" y="1968450"/>
            <a:ext cx="10566135" cy="2666933"/>
          </a:xfrm>
          <a:prstGeom prst="rect">
            <a:avLst/>
          </a:prstGeom>
          <a:solidFill>
            <a:srgbClr val="FFFFFF"/>
          </a:solidFill>
          <a:ln w="952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8.png"/>
          <p:cNvPicPr>
            <a:picLocks noChangeAspect="1"/>
          </p:cNvPicPr>
          <p:nvPr/>
        </p:nvPicPr>
        <p:blipFill>
          <a:blip r:embed="rId2"/>
          <a:stretch>
            <a:fillRect/>
          </a:stretch>
        </p:blipFill>
        <p:spPr>
          <a:xfrm>
            <a:off x="2397998" y="2044648"/>
            <a:ext cx="7395697" cy="2514537"/>
          </a:xfrm>
          <a:prstGeom prst="rect">
            <a:avLst/>
          </a:prstGeom>
        </p:spPr>
      </p:pic>
      <p:sp>
        <p:nvSpPr>
          <p:cNvPr id="5" name="TextBox 4"/>
          <p:cNvSpPr txBox="1"/>
          <p:nvPr/>
        </p:nvSpPr>
        <p:spPr>
          <a:xfrm>
            <a:off x="812779" y="4825879"/>
            <a:ext cx="3384465" cy="1206469"/>
          </a:xfrm>
          <a:prstGeom prst="rect">
            <a:avLst/>
          </a:prstGeom>
          <a:noFill/>
        </p:spPr>
        <p:txBody>
          <a:bodyPr wrap="square" lIns="0" rIns="0" tIns="0" bIns="0" anchor="t">
            <a:spAutoFit/>
          </a:bodyPr>
          <a:lstStyle/>
          <a:p>
            <a:pPr algn="l">
              <a:lnSpc>
                <a:spcPct val="125000"/>
              </a:lnSpc>
            </a:pPr>
            <a:r>
              <a:rPr sz="1250" b="1" i="0">
                <a:solidFill>
                  <a:srgbClr val="3C4656"/>
                </a:solidFill>
                <a:latin typeface="Calibri"/>
              </a:rPr>
              <a:t>One macro </a:t>
            </a:r>
            <a:r>
              <a:rPr sz="1250" b="0" i="0">
                <a:solidFill>
                  <a:srgbClr val="3C4656"/>
                </a:solidFill>
                <a:latin typeface="Calibri"/>
              </a:rPr>
              <a:t>builds all nineteen history tables and replaces national_id with a keyed hash. No analyst-readable table has ever held a direct identifier.</a:t>
            </a:r>
          </a:p>
        </p:txBody>
      </p:sp>
      <p:sp>
        <p:nvSpPr>
          <p:cNvPr id="6" name="TextBox 5"/>
          <p:cNvSpPr txBox="1"/>
          <p:nvPr/>
        </p:nvSpPr>
        <p:spPr>
          <a:xfrm>
            <a:off x="4400439" y="4825879"/>
            <a:ext cx="3384465" cy="1206469"/>
          </a:xfrm>
          <a:prstGeom prst="rect">
            <a:avLst/>
          </a:prstGeom>
          <a:noFill/>
        </p:spPr>
        <p:txBody>
          <a:bodyPr wrap="square" lIns="0" rIns="0" tIns="0" bIns="0" anchor="t">
            <a:spAutoFit/>
          </a:bodyPr>
          <a:lstStyle/>
          <a:p>
            <a:pPr algn="l">
              <a:lnSpc>
                <a:spcPct val="125000"/>
              </a:lnSpc>
            </a:pPr>
            <a:r>
              <a:rPr sz="1250" b="1" i="0">
                <a:solidFill>
                  <a:srgbClr val="3C4656"/>
                </a:solidFill>
                <a:latin typeface="Calibri"/>
              </a:rPr>
              <a:t>One function </a:t>
            </a:r>
            <a:r>
              <a:rPr sz="1250" b="0" i="0">
                <a:solidFill>
                  <a:srgbClr val="3C4656"/>
                </a:solidFill>
                <a:latin typeface="Calibri"/>
              </a:rPr>
              <a:t>HMAC-SHA-256 with a key version, that only the transform principal can run. Nobody else can compute the key for a chosen id.</a:t>
            </a:r>
          </a:p>
        </p:txBody>
      </p:sp>
      <p:sp>
        <p:nvSpPr>
          <p:cNvPr id="7" name="TextBox 6"/>
          <p:cNvSpPr txBox="1"/>
          <p:nvPr/>
        </p:nvSpPr>
        <p:spPr>
          <a:xfrm>
            <a:off x="7988100" y="4825879"/>
            <a:ext cx="3384465" cy="1206469"/>
          </a:xfrm>
          <a:prstGeom prst="rect">
            <a:avLst/>
          </a:prstGeom>
          <a:noFill/>
        </p:spPr>
        <p:txBody>
          <a:bodyPr wrap="square" lIns="0" rIns="0" tIns="0" bIns="0" anchor="t">
            <a:spAutoFit/>
          </a:bodyPr>
          <a:lstStyle/>
          <a:p>
            <a:pPr algn="l">
              <a:lnSpc>
                <a:spcPct val="125000"/>
              </a:lnSpc>
            </a:pPr>
            <a:r>
              <a:rPr sz="1250" b="1" i="0">
                <a:solidFill>
                  <a:srgbClr val="3C4656"/>
                </a:solidFill>
                <a:latin typeface="Calibri"/>
              </a:rPr>
              <a:t>Rotation is a rebuild. </a:t>
            </a:r>
            <a:r>
              <a:rPr sz="1250" b="0" i="0">
                <a:solidFill>
                  <a:srgbClr val="3C4656"/>
                </a:solidFill>
                <a:latin typeface="Calibri"/>
              </a:rPr>
              <a:t>Silver is rebuilt from Bronze every morning anyway, so a new key is a re-key, not a migration.</a:t>
            </a:r>
          </a:p>
        </p:txBody>
      </p:sp>
      <p:sp>
        <p:nvSpPr>
          <p:cNvPr id="8" name="TextBox 7"/>
          <p:cNvSpPr txBox="1"/>
          <p:nvPr/>
        </p:nvSpPr>
        <p:spPr>
          <a:xfrm>
            <a:off x="812779" y="6260943"/>
            <a:ext cx="8889777" cy="215894"/>
          </a:xfrm>
          <a:prstGeom prst="rect">
            <a:avLst/>
          </a:prstGeom>
          <a:noFill/>
        </p:spPr>
        <p:txBody>
          <a:bodyPr wrap="square" lIns="0" rIns="0" tIns="0" bIns="0" anchor="t">
            <a:spAutoFit/>
          </a:bodyPr>
          <a:lstStyle/>
          <a:p>
            <a:pPr algn="l">
              <a:lnSpc>
                <a:spcPct val="120000"/>
              </a:lnSpc>
            </a:pPr>
            <a:r>
              <a:rPr sz="1100" b="0" i="0">
                <a:solidFill>
                  <a:srgbClr val="6B7484"/>
                </a:solidFill>
                <a:latin typeface="Calibri"/>
              </a:rPr>
              <a:t>Figure 17 in the document (section 6.1). Names, mobile, email and date of birth go clear to the restricted schema only.</a:t>
            </a:r>
          </a:p>
        </p:txBody>
      </p:sp>
      <p:sp>
        <p:nvSpPr>
          <p:cNvPr id="9" name="TextBox 8"/>
          <p:cNvSpPr txBox="1"/>
          <p:nvPr/>
        </p:nvSpPr>
        <p:spPr>
          <a:xfrm>
            <a:off x="10997925" y="6260943"/>
            <a:ext cx="380990" cy="215894"/>
          </a:xfrm>
          <a:prstGeom prst="rect">
            <a:avLst/>
          </a:prstGeom>
          <a:noFill/>
        </p:spPr>
        <p:txBody>
          <a:bodyPr wrap="square" lIns="0" rIns="0" tIns="0" bIns="0" anchor="t">
            <a:spAutoFit/>
          </a:bodyPr>
          <a:lstStyle/>
          <a:p>
            <a:pPr algn="r">
              <a:lnSpc>
                <a:spcPct val="120000"/>
              </a:lnSpc>
            </a:pPr>
            <a:r>
              <a:rPr sz="1100" b="0" i="0">
                <a:solidFill>
                  <a:srgbClr val="6B7484"/>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812779" y="812779"/>
            <a:ext cx="10566135" cy="952476"/>
          </a:xfrm>
          <a:prstGeom prst="rect">
            <a:avLst/>
          </a:prstGeom>
          <a:noFill/>
        </p:spPr>
        <p:txBody>
          <a:bodyPr wrap="square" lIns="0" rIns="0" tIns="0" bIns="0" anchor="t">
            <a:spAutoFit/>
          </a:bodyPr>
          <a:lstStyle/>
          <a:p>
            <a:pPr algn="l">
              <a:lnSpc>
                <a:spcPct val="110000"/>
              </a:lnSpc>
            </a:pPr>
            <a:r>
              <a:rPr sz="3000" b="1" i="0">
                <a:solidFill>
                  <a:srgbClr val="15223A"/>
                </a:solidFill>
                <a:latin typeface="Cambria"/>
              </a:rPr>
              <a:t>Gold is a plain star, and beside it, records of what someone was shown</a:t>
            </a:r>
          </a:p>
        </p:txBody>
      </p:sp>
      <p:sp>
        <p:nvSpPr>
          <p:cNvPr id="3" name="Rectangle 2"/>
          <p:cNvSpPr/>
          <p:nvPr/>
        </p:nvSpPr>
        <p:spPr>
          <a:xfrm>
            <a:off x="812779" y="1904952"/>
            <a:ext cx="6857828" cy="3301917"/>
          </a:xfrm>
          <a:prstGeom prst="rect">
            <a:avLst/>
          </a:prstGeom>
          <a:solidFill>
            <a:srgbClr val="FFFFFF"/>
          </a:solidFill>
          <a:ln w="952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8.png"/>
          <p:cNvPicPr>
            <a:picLocks noChangeAspect="1"/>
          </p:cNvPicPr>
          <p:nvPr/>
        </p:nvPicPr>
        <p:blipFill>
          <a:blip r:embed="rId2"/>
          <a:stretch>
            <a:fillRect/>
          </a:stretch>
        </p:blipFill>
        <p:spPr>
          <a:xfrm>
            <a:off x="899344" y="1981150"/>
            <a:ext cx="6684698" cy="3149521"/>
          </a:xfrm>
          <a:prstGeom prst="rect">
            <a:avLst/>
          </a:prstGeom>
        </p:spPr>
      </p:pic>
      <p:sp>
        <p:nvSpPr>
          <p:cNvPr id="5" name="TextBox 4"/>
          <p:cNvSpPr txBox="1"/>
          <p:nvPr/>
        </p:nvSpPr>
        <p:spPr>
          <a:xfrm>
            <a:off x="7924601" y="1904952"/>
            <a:ext cx="3454313" cy="4063898"/>
          </a:xfrm>
          <a:prstGeom prst="rect">
            <a:avLst/>
          </a:prstGeom>
          <a:noFill/>
        </p:spPr>
        <p:txBody>
          <a:bodyPr wrap="square" lIns="0" rIns="0" tIns="0" bIns="0">
            <a:spAutoFit/>
          </a:bodyPr>
          <a:lstStyle/>
          <a:p>
            <a:pPr>
              <a:lnSpc>
                <a:spcPct val="120000"/>
              </a:lnSpc>
              <a:spcAft>
                <a:spcPts val="800"/>
              </a:spcAft>
            </a:pPr>
            <a:r>
              <a:rPr sz="1250" b="1">
                <a:solidFill>
                  <a:srgbClr val="3C4656"/>
                </a:solidFill>
                <a:latin typeface="Calibri"/>
              </a:rPr>
              <a:t>Three facts, five dimensions, no stored aggregates. </a:t>
            </a:r>
            <a:r>
              <a:rPr sz="1250" b="0">
                <a:solidFill>
                  <a:srgbClr val="3C4656"/>
                </a:solidFill>
                <a:latin typeface="Calibri"/>
              </a:rPr>
              <a:t>Every number is a join and a group by. Metrics are code-owned views, so Product owns a definition by owning a file.</a:t>
            </a:r>
          </a:p>
          <a:p>
            <a:pPr>
              <a:lnSpc>
                <a:spcPct val="120000"/>
              </a:lnSpc>
              <a:spcAft>
                <a:spcPts val="800"/>
              </a:spcAft>
            </a:pPr>
            <a:r>
              <a:rPr sz="1250" b="1">
                <a:solidFill>
                  <a:srgbClr val="3C4656"/>
                </a:solidFill>
                <a:latin typeface="Calibri"/>
              </a:rPr>
              <a:t>Keys are the business codes. </a:t>
            </a:r>
            <a:r>
              <a:rPr sz="1250" b="0">
                <a:solidFill>
                  <a:srgbClr val="3C4656"/>
                </a:solidFill>
                <a:latin typeface="Calibri"/>
              </a:rPr>
              <a:t>Channel, branch, product, the bank-local date. A join reads the way a business user says it.</a:t>
            </a:r>
          </a:p>
          <a:p>
            <a:pPr>
              <a:lnSpc>
                <a:spcPct val="120000"/>
              </a:lnSpc>
              <a:spcAft>
                <a:spcPts val="800"/>
              </a:spcAft>
            </a:pPr>
            <a:r>
              <a:rPr sz="1250" b="1">
                <a:solidFill>
                  <a:srgbClr val="3C4656"/>
                </a:solidFill>
                <a:latin typeface="Calibri"/>
              </a:rPr>
              <a:t>Written once, never edited: </a:t>
            </a:r>
            <a:r>
              <a:rPr sz="1250" b="0">
                <a:solidFill>
                  <a:srgbClr val="3C4656"/>
                </a:solidFill>
                <a:latin typeface="Calibri"/>
              </a:rPr>
              <a:t>the frozen cohort, the decision input record, the morning watchlist, the gate verdict. A frozen row stores names as text, so it never depends on a dimension that changes later.</a:t>
            </a:r>
          </a:p>
        </p:txBody>
      </p:sp>
      <p:sp>
        <p:nvSpPr>
          <p:cNvPr id="6" name="TextBox 5"/>
          <p:cNvSpPr txBox="1"/>
          <p:nvPr/>
        </p:nvSpPr>
        <p:spPr>
          <a:xfrm>
            <a:off x="812779" y="6260943"/>
            <a:ext cx="8889777" cy="215894"/>
          </a:xfrm>
          <a:prstGeom prst="rect">
            <a:avLst/>
          </a:prstGeom>
          <a:noFill/>
        </p:spPr>
        <p:txBody>
          <a:bodyPr wrap="square" lIns="0" rIns="0" tIns="0" bIns="0" anchor="t">
            <a:spAutoFit/>
          </a:bodyPr>
          <a:lstStyle/>
          <a:p>
            <a:pPr algn="l">
              <a:lnSpc>
                <a:spcPct val="120000"/>
              </a:lnSpc>
            </a:pPr>
            <a:r>
              <a:rPr sz="1100" b="0" i="0">
                <a:solidFill>
                  <a:srgbClr val="6B7484"/>
                </a:solidFill>
                <a:latin typeface="Calibri"/>
              </a:rPr>
              <a:t>Figure 8 in the document.</a:t>
            </a:r>
          </a:p>
        </p:txBody>
      </p:sp>
      <p:sp>
        <p:nvSpPr>
          <p:cNvPr id="7" name="TextBox 6"/>
          <p:cNvSpPr txBox="1"/>
          <p:nvPr/>
        </p:nvSpPr>
        <p:spPr>
          <a:xfrm>
            <a:off x="10997925" y="6260943"/>
            <a:ext cx="380990" cy="215894"/>
          </a:xfrm>
          <a:prstGeom prst="rect">
            <a:avLst/>
          </a:prstGeom>
          <a:noFill/>
        </p:spPr>
        <p:txBody>
          <a:bodyPr wrap="square" lIns="0" rIns="0" tIns="0" bIns="0" anchor="t">
            <a:spAutoFit/>
          </a:bodyPr>
          <a:lstStyle/>
          <a:p>
            <a:pPr algn="r">
              <a:lnSpc>
                <a:spcPct val="120000"/>
              </a:lnSpc>
            </a:pPr>
            <a:r>
              <a:rPr sz="1100" b="0" i="0">
                <a:solidFill>
                  <a:srgbClr val="6B7484"/>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812779" y="812779"/>
            <a:ext cx="10566135" cy="952476"/>
          </a:xfrm>
          <a:prstGeom prst="rect">
            <a:avLst/>
          </a:prstGeom>
          <a:noFill/>
        </p:spPr>
        <p:txBody>
          <a:bodyPr wrap="square" lIns="0" rIns="0" tIns="0" bIns="0" anchor="t">
            <a:spAutoFit/>
          </a:bodyPr>
          <a:lstStyle/>
          <a:p>
            <a:pPr algn="l">
              <a:lnSpc>
                <a:spcPct val="110000"/>
              </a:lnSpc>
            </a:pPr>
            <a:r>
              <a:rPr sz="3000" b="1" i="0">
                <a:solidFill>
                  <a:srgbClr val="15223A"/>
                </a:solidFill>
                <a:latin typeface="Cambria"/>
              </a:rPr>
              <a:t>Q1 · A cohort is pinned, frozen at maturity, and gated before it publishes</a:t>
            </a:r>
          </a:p>
        </p:txBody>
      </p:sp>
      <p:sp>
        <p:nvSpPr>
          <p:cNvPr id="3" name="Rectangle 2"/>
          <p:cNvSpPr/>
          <p:nvPr/>
        </p:nvSpPr>
        <p:spPr>
          <a:xfrm>
            <a:off x="812779" y="1904952"/>
            <a:ext cx="5397365" cy="4127396"/>
          </a:xfrm>
          <a:prstGeom prst="rect">
            <a:avLst/>
          </a:prstGeom>
          <a:solidFill>
            <a:srgbClr val="FFFFFF"/>
          </a:solidFill>
          <a:ln w="952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0.png"/>
          <p:cNvPicPr>
            <a:picLocks noChangeAspect="1"/>
          </p:cNvPicPr>
          <p:nvPr/>
        </p:nvPicPr>
        <p:blipFill>
          <a:blip r:embed="rId2"/>
          <a:stretch>
            <a:fillRect/>
          </a:stretch>
        </p:blipFill>
        <p:spPr>
          <a:xfrm>
            <a:off x="888977" y="1986052"/>
            <a:ext cx="5244968" cy="3965196"/>
          </a:xfrm>
          <a:prstGeom prst="rect">
            <a:avLst/>
          </a:prstGeom>
        </p:spPr>
      </p:pic>
      <p:sp>
        <p:nvSpPr>
          <p:cNvPr id="5" name="Rectangle 4"/>
          <p:cNvSpPr/>
          <p:nvPr/>
        </p:nvSpPr>
        <p:spPr>
          <a:xfrm>
            <a:off x="6464138" y="1904952"/>
            <a:ext cx="4914777" cy="1269968"/>
          </a:xfrm>
          <a:prstGeom prst="rect">
            <a:avLst/>
          </a:prstGeom>
          <a:solidFill>
            <a:srgbClr val="FFFFFF"/>
          </a:solidFill>
          <a:ln w="952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41933" y="2057348"/>
            <a:ext cx="4559186" cy="253993"/>
          </a:xfrm>
          <a:prstGeom prst="rect">
            <a:avLst/>
          </a:prstGeom>
          <a:noFill/>
        </p:spPr>
        <p:txBody>
          <a:bodyPr wrap="square" lIns="0" rIns="0" tIns="0" bIns="0" anchor="t">
            <a:spAutoFit/>
          </a:bodyPr>
          <a:lstStyle/>
          <a:p>
            <a:pPr algn="l">
              <a:lnSpc>
                <a:spcPct val="120000"/>
              </a:lnSpc>
            </a:pPr>
            <a:r>
              <a:rPr sz="1400" b="1" i="0">
                <a:solidFill>
                  <a:srgbClr val="E38B3A"/>
                </a:solidFill>
                <a:latin typeface="Calibri"/>
              </a:rPr>
              <a:t>Pinned</a:t>
            </a:r>
          </a:p>
        </p:txBody>
      </p:sp>
      <p:sp>
        <p:nvSpPr>
          <p:cNvPr id="7" name="TextBox 6"/>
          <p:cNvSpPr txBox="1"/>
          <p:nvPr/>
        </p:nvSpPr>
        <p:spPr>
          <a:xfrm>
            <a:off x="6641933" y="2349441"/>
            <a:ext cx="4559186" cy="698482"/>
          </a:xfrm>
          <a:prstGeom prst="rect">
            <a:avLst/>
          </a:prstGeom>
          <a:noFill/>
        </p:spPr>
        <p:txBody>
          <a:bodyPr wrap="square" lIns="0" rIns="0" tIns="0" bIns="0" anchor="t">
            <a:spAutoFit/>
          </a:bodyPr>
          <a:lstStyle/>
          <a:p>
            <a:pPr algn="l">
              <a:lnSpc>
                <a:spcPct val="125000"/>
              </a:lnSpc>
            </a:pPr>
            <a:r>
              <a:rPr sz="1150" b="0" i="0">
                <a:solidFill>
                  <a:srgbClr val="3C4656"/>
                </a:solidFill>
                <a:latin typeface="Calibri"/>
              </a:rPr>
              <a:t>The cohort is keyed on the first submission ever captured. A rewrite of submitted_at cannot move an application between months.</a:t>
            </a:r>
          </a:p>
        </p:txBody>
      </p:sp>
      <p:sp>
        <p:nvSpPr>
          <p:cNvPr id="8" name="Rectangle 7"/>
          <p:cNvSpPr/>
          <p:nvPr/>
        </p:nvSpPr>
        <p:spPr>
          <a:xfrm>
            <a:off x="6464138" y="3327316"/>
            <a:ext cx="4914777" cy="1269968"/>
          </a:xfrm>
          <a:prstGeom prst="rect">
            <a:avLst/>
          </a:prstGeom>
          <a:solidFill>
            <a:srgbClr val="FFFFFF"/>
          </a:solidFill>
          <a:ln w="952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41933" y="3479713"/>
            <a:ext cx="4559186" cy="253993"/>
          </a:xfrm>
          <a:prstGeom prst="rect">
            <a:avLst/>
          </a:prstGeom>
          <a:noFill/>
        </p:spPr>
        <p:txBody>
          <a:bodyPr wrap="square" lIns="0" rIns="0" tIns="0" bIns="0" anchor="t">
            <a:spAutoFit/>
          </a:bodyPr>
          <a:lstStyle/>
          <a:p>
            <a:pPr algn="l">
              <a:lnSpc>
                <a:spcPct val="120000"/>
              </a:lnSpc>
            </a:pPr>
            <a:r>
              <a:rPr sz="1400" b="1" i="0">
                <a:solidFill>
                  <a:srgbClr val="E38B3A"/>
                </a:solidFill>
                <a:latin typeface="Calibri"/>
              </a:rPr>
              <a:t>One reason that always sums</a:t>
            </a:r>
          </a:p>
        </p:txBody>
      </p:sp>
      <p:sp>
        <p:nvSpPr>
          <p:cNvPr id="10" name="TextBox 9"/>
          <p:cNvSpPr txBox="1"/>
          <p:nvPr/>
        </p:nvSpPr>
        <p:spPr>
          <a:xfrm>
            <a:off x="6641933" y="3771805"/>
            <a:ext cx="4559186" cy="698482"/>
          </a:xfrm>
          <a:prstGeom prst="rect">
            <a:avLst/>
          </a:prstGeom>
          <a:noFill/>
        </p:spPr>
        <p:txBody>
          <a:bodyPr wrap="square" lIns="0" rIns="0" tIns="0" bIns="0" anchor="t">
            <a:spAutoFit/>
          </a:bodyPr>
          <a:lstStyle/>
          <a:p>
            <a:pPr algn="l">
              <a:lnSpc>
                <a:spcPct val="125000"/>
              </a:lnSpc>
            </a:pPr>
            <a:r>
              <a:rPr sz="1150" b="0" i="0">
                <a:solidFill>
                  <a:srgbClr val="3C4656"/>
                </a:solidFill>
                <a:latin typeface="Calibri"/>
              </a:rPr>
              <a:t>The first exit after the last re-entry on one cross-service timeline, read at day 14. Funded, five buckets and in-progress add up to the cohort.</a:t>
            </a:r>
          </a:p>
        </p:txBody>
      </p:sp>
      <p:sp>
        <p:nvSpPr>
          <p:cNvPr id="11" name="Rectangle 10"/>
          <p:cNvSpPr/>
          <p:nvPr/>
        </p:nvSpPr>
        <p:spPr>
          <a:xfrm>
            <a:off x="6464138" y="4749681"/>
            <a:ext cx="4914777" cy="1269968"/>
          </a:xfrm>
          <a:prstGeom prst="rect">
            <a:avLst/>
          </a:prstGeom>
          <a:solidFill>
            <a:srgbClr val="FFFFFF"/>
          </a:solidFill>
          <a:ln w="952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41933" y="4902077"/>
            <a:ext cx="4559186" cy="253993"/>
          </a:xfrm>
          <a:prstGeom prst="rect">
            <a:avLst/>
          </a:prstGeom>
          <a:noFill/>
        </p:spPr>
        <p:txBody>
          <a:bodyPr wrap="square" lIns="0" rIns="0" tIns="0" bIns="0" anchor="t">
            <a:spAutoFit/>
          </a:bodyPr>
          <a:lstStyle/>
          <a:p>
            <a:pPr algn="l">
              <a:lnSpc>
                <a:spcPct val="120000"/>
              </a:lnSpc>
            </a:pPr>
            <a:r>
              <a:rPr sz="1400" b="1" i="0">
                <a:solidFill>
                  <a:srgbClr val="E38B3A"/>
                </a:solidFill>
                <a:latin typeface="Calibri"/>
              </a:rPr>
              <a:t>Freeze, diff, gate</a:t>
            </a:r>
          </a:p>
        </p:txBody>
      </p:sp>
      <p:sp>
        <p:nvSpPr>
          <p:cNvPr id="13" name="TextBox 12"/>
          <p:cNvSpPr txBox="1"/>
          <p:nvPr/>
        </p:nvSpPr>
        <p:spPr>
          <a:xfrm>
            <a:off x="6641933" y="5194170"/>
            <a:ext cx="4559186" cy="698482"/>
          </a:xfrm>
          <a:prstGeom prst="rect">
            <a:avLst/>
          </a:prstGeom>
          <a:noFill/>
        </p:spPr>
        <p:txBody>
          <a:bodyPr wrap="square" lIns="0" rIns="0" tIns="0" bIns="0" anchor="t">
            <a:spAutoFit/>
          </a:bodyPr>
          <a:lstStyle/>
          <a:p>
            <a:pPr algn="l">
              <a:lnSpc>
                <a:spcPct val="125000"/>
              </a:lnSpc>
            </a:pPr>
            <a:r>
              <a:rPr sz="1150" b="0" i="0">
                <a:solidFill>
                  <a:srgbClr val="3C4656"/>
                </a:solidFill>
                <a:latin typeface="Calibri"/>
              </a:rPr>
              <a:t>A mature cohort is written once. Today’s recompute is diffed against it. Two thresholds: the Lending squad sets flag, Product sets hold. A held cohort publishes a HELD row, never silence.</a:t>
            </a:r>
          </a:p>
        </p:txBody>
      </p:sp>
      <p:sp>
        <p:nvSpPr>
          <p:cNvPr id="14" name="TextBox 13"/>
          <p:cNvSpPr txBox="1"/>
          <p:nvPr/>
        </p:nvSpPr>
        <p:spPr>
          <a:xfrm>
            <a:off x="812779" y="6260943"/>
            <a:ext cx="8889777" cy="215894"/>
          </a:xfrm>
          <a:prstGeom prst="rect">
            <a:avLst/>
          </a:prstGeom>
          <a:noFill/>
        </p:spPr>
        <p:txBody>
          <a:bodyPr wrap="square" lIns="0" rIns="0" tIns="0" bIns="0" anchor="t">
            <a:spAutoFit/>
          </a:bodyPr>
          <a:lstStyle/>
          <a:p>
            <a:pPr algn="l">
              <a:lnSpc>
                <a:spcPct val="120000"/>
              </a:lnSpc>
            </a:pPr>
            <a:r>
              <a:rPr sz="1100" b="0" i="0">
                <a:solidFill>
                  <a:srgbClr val="6B7484"/>
                </a:solidFill>
                <a:latin typeface="Calibri"/>
              </a:rPr>
              <a:t>Figure 10 in the document. Values are illustrative.</a:t>
            </a:r>
          </a:p>
        </p:txBody>
      </p:sp>
      <p:sp>
        <p:nvSpPr>
          <p:cNvPr id="15" name="TextBox 14"/>
          <p:cNvSpPr txBox="1"/>
          <p:nvPr/>
        </p:nvSpPr>
        <p:spPr>
          <a:xfrm>
            <a:off x="10997925" y="6260943"/>
            <a:ext cx="380990" cy="215894"/>
          </a:xfrm>
          <a:prstGeom prst="rect">
            <a:avLst/>
          </a:prstGeom>
          <a:noFill/>
        </p:spPr>
        <p:txBody>
          <a:bodyPr wrap="square" lIns="0" rIns="0" tIns="0" bIns="0" anchor="t">
            <a:spAutoFit/>
          </a:bodyPr>
          <a:lstStyle/>
          <a:p>
            <a:pPr algn="r">
              <a:lnSpc>
                <a:spcPct val="120000"/>
              </a:lnSpc>
            </a:pPr>
            <a:r>
              <a:rPr sz="1100" b="0" i="0">
                <a:solidFill>
                  <a:srgbClr val="6B7484"/>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812779" y="812779"/>
            <a:ext cx="10566135" cy="952476"/>
          </a:xfrm>
          <a:prstGeom prst="rect">
            <a:avLst/>
          </a:prstGeom>
          <a:noFill/>
        </p:spPr>
        <p:txBody>
          <a:bodyPr wrap="square" lIns="0" rIns="0" tIns="0" bIns="0" anchor="t">
            <a:spAutoFit/>
          </a:bodyPr>
          <a:lstStyle/>
          <a:p>
            <a:pPr algn="l">
              <a:lnSpc>
                <a:spcPct val="110000"/>
              </a:lnSpc>
            </a:pPr>
            <a:r>
              <a:rPr sz="3000" b="1" i="0">
                <a:solidFill>
                  <a:srgbClr val="15223A"/>
                </a:solidFill>
                <a:latin typeface="Cambria"/>
              </a:rPr>
              <a:t>Q2 · The platform proves what the sources held, and says what it cannot prove</a:t>
            </a:r>
          </a:p>
        </p:txBody>
      </p:sp>
      <p:sp>
        <p:nvSpPr>
          <p:cNvPr id="3" name="Rectangle 2"/>
          <p:cNvSpPr/>
          <p:nvPr/>
        </p:nvSpPr>
        <p:spPr>
          <a:xfrm>
            <a:off x="812779" y="1904952"/>
            <a:ext cx="6857828" cy="3301917"/>
          </a:xfrm>
          <a:prstGeom prst="rect">
            <a:avLst/>
          </a:prstGeom>
          <a:solidFill>
            <a:srgbClr val="FFFFFF"/>
          </a:solidFill>
          <a:ln w="952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2.png"/>
          <p:cNvPicPr>
            <a:picLocks noChangeAspect="1"/>
          </p:cNvPicPr>
          <p:nvPr/>
        </p:nvPicPr>
        <p:blipFill>
          <a:blip r:embed="rId2"/>
          <a:stretch>
            <a:fillRect/>
          </a:stretch>
        </p:blipFill>
        <p:spPr>
          <a:xfrm>
            <a:off x="888977" y="2013661"/>
            <a:ext cx="6705432" cy="3084498"/>
          </a:xfrm>
          <a:prstGeom prst="rect">
            <a:avLst/>
          </a:prstGeom>
        </p:spPr>
      </p:pic>
      <p:sp>
        <p:nvSpPr>
          <p:cNvPr id="5" name="TextBox 4"/>
          <p:cNvSpPr txBox="1"/>
          <p:nvPr/>
        </p:nvSpPr>
        <p:spPr>
          <a:xfrm>
            <a:off x="7924601" y="1904952"/>
            <a:ext cx="3454313" cy="4063898"/>
          </a:xfrm>
          <a:prstGeom prst="rect">
            <a:avLst/>
          </a:prstGeom>
          <a:noFill/>
        </p:spPr>
        <p:txBody>
          <a:bodyPr wrap="square" lIns="0" rIns="0" tIns="0" bIns="0">
            <a:spAutoFit/>
          </a:bodyPr>
          <a:lstStyle/>
          <a:p>
            <a:pPr>
              <a:lnSpc>
                <a:spcPct val="120000"/>
              </a:lnSpc>
              <a:spcAft>
                <a:spcPts val="800"/>
              </a:spcAft>
            </a:pPr>
            <a:r>
              <a:rPr sz="1250" b="1">
                <a:solidFill>
                  <a:srgbClr val="3C4656"/>
                </a:solidFill>
                <a:latin typeface="Calibri"/>
              </a:rPr>
              <a:t>Each input read as of its own time </a:t>
            </a:r>
            <a:r>
              <a:rPr sz="1250" b="0">
                <a:solidFill>
                  <a:srgbClr val="3C4656"/>
                </a:solidFill>
                <a:latin typeface="Calibri"/>
              </a:rPr>
              <a:t>from the history tables, with an evidence grade: engine copy, source as of, or not captured.</a:t>
            </a:r>
          </a:p>
          <a:p>
            <a:pPr>
              <a:lnSpc>
                <a:spcPct val="120000"/>
              </a:lnSpc>
              <a:spcAft>
                <a:spcPts val="800"/>
              </a:spcAft>
            </a:pPr>
            <a:r>
              <a:rPr sz="1250" b="1">
                <a:solidFill>
                  <a:srgbClr val="3C4656"/>
                </a:solidFill>
                <a:latin typeface="Calibri"/>
              </a:rPr>
              <a:t>Ambiguity is a flag, not a guess. </a:t>
            </a:r>
            <a:r>
              <a:rPr sz="1250" b="0">
                <a:solidFill>
                  <a:srgbClr val="3C4656"/>
                </a:solidFill>
                <a:latin typeface="Calibri"/>
              </a:rPr>
              <a:t>Two bureau fetches in the read window flag the bureau input. A late input opens a new record version; the old one stays.</a:t>
            </a:r>
          </a:p>
          <a:p>
            <a:pPr>
              <a:lnSpc>
                <a:spcPct val="120000"/>
              </a:lnSpc>
              <a:spcAft>
                <a:spcPts val="800"/>
              </a:spcAft>
            </a:pPr>
            <a:r>
              <a:rPr sz="1250" b="1">
                <a:solidFill>
                  <a:srgbClr val="3C4656"/>
                </a:solidFill>
                <a:latin typeface="Calibri"/>
              </a:rPr>
              <a:t>Re-derived weekly </a:t>
            </a:r>
            <a:r>
              <a:rPr sz="1250" b="0">
                <a:solidFill>
                  <a:srgbClr val="3C4656"/>
                </a:solidFill>
                <a:latin typeface="Calibri"/>
              </a:rPr>
              <a:t>against a stored hash. A mismatch is published as a defect, never corrected. Legacy decisions are served as they are, graded NOT_CAPTURED.</a:t>
            </a:r>
          </a:p>
        </p:txBody>
      </p:sp>
      <p:sp>
        <p:nvSpPr>
          <p:cNvPr id="6" name="TextBox 5"/>
          <p:cNvSpPr txBox="1"/>
          <p:nvPr/>
        </p:nvSpPr>
        <p:spPr>
          <a:xfrm>
            <a:off x="812779" y="6260943"/>
            <a:ext cx="8889777" cy="215894"/>
          </a:xfrm>
          <a:prstGeom prst="rect">
            <a:avLst/>
          </a:prstGeom>
          <a:noFill/>
        </p:spPr>
        <p:txBody>
          <a:bodyPr wrap="square" lIns="0" rIns="0" tIns="0" bIns="0" anchor="t">
            <a:spAutoFit/>
          </a:bodyPr>
          <a:lstStyle/>
          <a:p>
            <a:pPr algn="l">
              <a:lnSpc>
                <a:spcPct val="120000"/>
              </a:lnSpc>
            </a:pPr>
            <a:r>
              <a:rPr sz="1100" b="0" i="0">
                <a:solidFill>
                  <a:srgbClr val="6B7484"/>
                </a:solidFill>
                <a:latin typeface="Calibri"/>
              </a:rPr>
              <a:t>Figure 12 in the document. Values are illustrative.</a:t>
            </a:r>
          </a:p>
        </p:txBody>
      </p:sp>
      <p:sp>
        <p:nvSpPr>
          <p:cNvPr id="7" name="TextBox 6"/>
          <p:cNvSpPr txBox="1"/>
          <p:nvPr/>
        </p:nvSpPr>
        <p:spPr>
          <a:xfrm>
            <a:off x="10997925" y="6260943"/>
            <a:ext cx="380990" cy="215894"/>
          </a:xfrm>
          <a:prstGeom prst="rect">
            <a:avLst/>
          </a:prstGeom>
          <a:noFill/>
        </p:spPr>
        <p:txBody>
          <a:bodyPr wrap="square" lIns="0" rIns="0" tIns="0" bIns="0" anchor="t">
            <a:spAutoFit/>
          </a:bodyPr>
          <a:lstStyle/>
          <a:p>
            <a:pPr algn="r">
              <a:lnSpc>
                <a:spcPct val="120000"/>
              </a:lnSpc>
            </a:pPr>
            <a:r>
              <a:rPr sz="1100" b="0" i="0">
                <a:solidFill>
                  <a:srgbClr val="6B7484"/>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812779" y="812779"/>
            <a:ext cx="10566135" cy="952476"/>
          </a:xfrm>
          <a:prstGeom prst="rect">
            <a:avLst/>
          </a:prstGeom>
          <a:noFill/>
        </p:spPr>
        <p:txBody>
          <a:bodyPr wrap="square" lIns="0" rIns="0" tIns="0" bIns="0" anchor="t">
            <a:spAutoFit/>
          </a:bodyPr>
          <a:lstStyle/>
          <a:p>
            <a:pPr algn="l">
              <a:lnSpc>
                <a:spcPct val="110000"/>
              </a:lnSpc>
            </a:pPr>
            <a:r>
              <a:rPr sz="3000" b="1" i="0">
                <a:solidFill>
                  <a:srgbClr val="15223A"/>
                </a:solidFill>
                <a:latin typeface="Cambria"/>
              </a:rPr>
              <a:t>Q3 and Q4 · An operational list that is a record, and a proof that is evidence</a:t>
            </a:r>
          </a:p>
        </p:txBody>
      </p:sp>
      <p:sp>
        <p:nvSpPr>
          <p:cNvPr id="3" name="Rectangle 2"/>
          <p:cNvSpPr/>
          <p:nvPr/>
        </p:nvSpPr>
        <p:spPr>
          <a:xfrm>
            <a:off x="812779" y="1904952"/>
            <a:ext cx="5156071" cy="2666933"/>
          </a:xfrm>
          <a:prstGeom prst="rect">
            <a:avLst/>
          </a:prstGeom>
          <a:solidFill>
            <a:srgbClr val="FFFFFF"/>
          </a:solidFill>
          <a:ln w="952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4.png"/>
          <p:cNvPicPr>
            <a:picLocks noChangeAspect="1"/>
          </p:cNvPicPr>
          <p:nvPr/>
        </p:nvPicPr>
        <p:blipFill>
          <a:blip r:embed="rId2"/>
          <a:stretch>
            <a:fillRect/>
          </a:stretch>
        </p:blipFill>
        <p:spPr>
          <a:xfrm>
            <a:off x="888977" y="2162628"/>
            <a:ext cx="5003674" cy="2151580"/>
          </a:xfrm>
          <a:prstGeom prst="rect">
            <a:avLst/>
          </a:prstGeom>
        </p:spPr>
      </p:pic>
      <p:sp>
        <p:nvSpPr>
          <p:cNvPr id="5" name="Rectangle 4"/>
          <p:cNvSpPr/>
          <p:nvPr/>
        </p:nvSpPr>
        <p:spPr>
          <a:xfrm>
            <a:off x="6222844" y="1904952"/>
            <a:ext cx="5156071" cy="2666933"/>
          </a:xfrm>
          <a:prstGeom prst="rect">
            <a:avLst/>
          </a:prstGeom>
          <a:solidFill>
            <a:srgbClr val="FFFFFF"/>
          </a:solidFill>
          <a:ln w="952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6.png"/>
          <p:cNvPicPr>
            <a:picLocks noChangeAspect="1"/>
          </p:cNvPicPr>
          <p:nvPr/>
        </p:nvPicPr>
        <p:blipFill>
          <a:blip r:embed="rId3"/>
          <a:stretch>
            <a:fillRect/>
          </a:stretch>
        </p:blipFill>
        <p:spPr>
          <a:xfrm>
            <a:off x="6383055" y="1981150"/>
            <a:ext cx="4835648" cy="2514537"/>
          </a:xfrm>
          <a:prstGeom prst="rect">
            <a:avLst/>
          </a:prstGeom>
        </p:spPr>
      </p:pic>
      <p:sp>
        <p:nvSpPr>
          <p:cNvPr id="7" name="TextBox 6"/>
          <p:cNvSpPr txBox="1"/>
          <p:nvPr/>
        </p:nvSpPr>
        <p:spPr>
          <a:xfrm>
            <a:off x="812779" y="4698882"/>
            <a:ext cx="5156071" cy="253993"/>
          </a:xfrm>
          <a:prstGeom prst="rect">
            <a:avLst/>
          </a:prstGeom>
          <a:noFill/>
        </p:spPr>
        <p:txBody>
          <a:bodyPr wrap="square" lIns="0" rIns="0" tIns="0" bIns="0" anchor="t">
            <a:spAutoFit/>
          </a:bodyPr>
          <a:lstStyle/>
          <a:p>
            <a:pPr algn="l">
              <a:lnSpc>
                <a:spcPct val="120000"/>
              </a:lnSpc>
            </a:pPr>
            <a:r>
              <a:rPr sz="1400" b="1" i="0">
                <a:solidFill>
                  <a:srgbClr val="E38B3A"/>
                </a:solidFill>
                <a:latin typeface="Calibri"/>
              </a:rPr>
              <a:t>Q3 · Offer expiry watchlist</a:t>
            </a:r>
          </a:p>
        </p:txBody>
      </p:sp>
      <p:sp>
        <p:nvSpPr>
          <p:cNvPr id="8" name="TextBox 7"/>
          <p:cNvSpPr txBox="1"/>
          <p:nvPr/>
        </p:nvSpPr>
        <p:spPr>
          <a:xfrm>
            <a:off x="812779" y="5003674"/>
            <a:ext cx="5156071" cy="1142971"/>
          </a:xfrm>
          <a:prstGeom prst="rect">
            <a:avLst/>
          </a:prstGeom>
          <a:noFill/>
        </p:spPr>
        <p:txBody>
          <a:bodyPr wrap="square" lIns="0" rIns="0" tIns="0" bIns="0" anchor="t">
            <a:spAutoFit/>
          </a:bodyPr>
          <a:lstStyle/>
          <a:p>
            <a:pPr algn="l">
              <a:lnSpc>
                <a:spcPct val="125000"/>
              </a:lnSpc>
            </a:pPr>
            <a:r>
              <a:rPr sz="1150" b="0" i="0">
                <a:solidFill>
                  <a:srgbClr val="3C4656"/>
                </a:solidFill>
                <a:latin typeface="Calibri"/>
              </a:rPr>
              <a:t>The offer is read by version, because the row is overwritten in place. Acceptance is an anti-join at the data cut-off. Expiry-pending offers lead the list, since a customer can still accept until the expiry job runs. Each morning’s list is snapshotted: what ops was told is a record.</a:t>
            </a:r>
          </a:p>
        </p:txBody>
      </p:sp>
      <p:sp>
        <p:nvSpPr>
          <p:cNvPr id="9" name="TextBox 8"/>
          <p:cNvSpPr txBox="1"/>
          <p:nvPr/>
        </p:nvSpPr>
        <p:spPr>
          <a:xfrm>
            <a:off x="6222844" y="4698882"/>
            <a:ext cx="5156071" cy="253993"/>
          </a:xfrm>
          <a:prstGeom prst="rect">
            <a:avLst/>
          </a:prstGeom>
          <a:noFill/>
        </p:spPr>
        <p:txBody>
          <a:bodyPr wrap="square" lIns="0" rIns="0" tIns="0" bIns="0" anchor="t">
            <a:spAutoFit/>
          </a:bodyPr>
          <a:lstStyle/>
          <a:p>
            <a:pPr algn="l">
              <a:lnSpc>
                <a:spcPct val="120000"/>
              </a:lnSpc>
            </a:pPr>
            <a:r>
              <a:rPr sz="1400" b="1" i="0">
                <a:solidFill>
                  <a:srgbClr val="E38B3A"/>
                </a:solidFill>
                <a:latin typeface="Calibri"/>
              </a:rPr>
              <a:t>Q4 · Proof that PII was masked</a:t>
            </a:r>
          </a:p>
        </p:txBody>
      </p:sp>
      <p:sp>
        <p:nvSpPr>
          <p:cNvPr id="10" name="TextBox 9"/>
          <p:cNvSpPr txBox="1"/>
          <p:nvPr/>
        </p:nvSpPr>
        <p:spPr>
          <a:xfrm>
            <a:off x="6222844" y="5003674"/>
            <a:ext cx="5156071" cy="1079473"/>
          </a:xfrm>
          <a:prstGeom prst="rect">
            <a:avLst/>
          </a:prstGeom>
          <a:noFill/>
        </p:spPr>
        <p:txBody>
          <a:bodyPr wrap="square" lIns="0" rIns="0" tIns="0" bIns="0" anchor="t">
            <a:spAutoFit/>
          </a:bodyPr>
          <a:lstStyle/>
          <a:p>
            <a:pPr algn="l">
              <a:lnSpc>
                <a:spcPct val="125000"/>
              </a:lnSpc>
            </a:pPr>
            <a:r>
              <a:rPr sz="1150" b="0" i="0">
                <a:solidFill>
                  <a:srgbClr val="3C4656"/>
                </a:solidFill>
                <a:latin typeface="Calibri"/>
              </a:rPr>
              <a:t>Six evidence tables, none of them business data, exported daily to a write-once bucket in a security-owned account. A probe principal reads masked columns every day and tries the forbidden layers. Break-glass reads join to their ticket.</a:t>
            </a:r>
          </a:p>
        </p:txBody>
      </p:sp>
      <p:sp>
        <p:nvSpPr>
          <p:cNvPr id="11" name="TextBox 10"/>
          <p:cNvSpPr txBox="1"/>
          <p:nvPr/>
        </p:nvSpPr>
        <p:spPr>
          <a:xfrm>
            <a:off x="812779" y="6260943"/>
            <a:ext cx="8889777" cy="215894"/>
          </a:xfrm>
          <a:prstGeom prst="rect">
            <a:avLst/>
          </a:prstGeom>
          <a:noFill/>
        </p:spPr>
        <p:txBody>
          <a:bodyPr wrap="square" lIns="0" rIns="0" tIns="0" bIns="0" anchor="t">
            <a:spAutoFit/>
          </a:bodyPr>
          <a:lstStyle/>
          <a:p>
            <a:pPr algn="l">
              <a:lnSpc>
                <a:spcPct val="120000"/>
              </a:lnSpc>
            </a:pPr>
            <a:r>
              <a:rPr sz="1100" b="0" i="0">
                <a:solidFill>
                  <a:srgbClr val="6B7484"/>
                </a:solidFill>
                <a:latin typeface="Calibri"/>
              </a:rPr>
              <a:t>Figures 14 and 16 in the document. Values and counts are illustrative.</a:t>
            </a:r>
          </a:p>
        </p:txBody>
      </p:sp>
      <p:sp>
        <p:nvSpPr>
          <p:cNvPr id="12" name="TextBox 11"/>
          <p:cNvSpPr txBox="1"/>
          <p:nvPr/>
        </p:nvSpPr>
        <p:spPr>
          <a:xfrm>
            <a:off x="10997925" y="6260943"/>
            <a:ext cx="380990" cy="215894"/>
          </a:xfrm>
          <a:prstGeom prst="rect">
            <a:avLst/>
          </a:prstGeom>
          <a:noFill/>
        </p:spPr>
        <p:txBody>
          <a:bodyPr wrap="square" lIns="0" rIns="0" tIns="0" bIns="0" anchor="t">
            <a:spAutoFit/>
          </a:bodyPr>
          <a:lstStyle/>
          <a:p>
            <a:pPr algn="r">
              <a:lnSpc>
                <a:spcPct val="120000"/>
              </a:lnSpc>
            </a:pPr>
            <a:r>
              <a:rPr sz="1100" b="0" i="0">
                <a:solidFill>
                  <a:srgbClr val="6B7484"/>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5223A"/>
        </a:solidFill>
        <a:effectLst/>
      </p:bgPr>
    </p:bg>
    <p:spTree>
      <p:nvGrpSpPr>
        <p:cNvPr id="1" name=""/>
        <p:cNvGrpSpPr/>
        <p:nvPr/>
      </p:nvGrpSpPr>
      <p:grpSpPr/>
      <p:sp>
        <p:nvSpPr>
          <p:cNvPr id="2" name="TextBox 1"/>
          <p:cNvSpPr txBox="1"/>
          <p:nvPr/>
        </p:nvSpPr>
        <p:spPr>
          <a:xfrm>
            <a:off x="812779" y="812779"/>
            <a:ext cx="10566135" cy="952476"/>
          </a:xfrm>
          <a:prstGeom prst="rect">
            <a:avLst/>
          </a:prstGeom>
          <a:noFill/>
        </p:spPr>
        <p:txBody>
          <a:bodyPr wrap="square" lIns="0" rIns="0" tIns="0" bIns="0" anchor="t">
            <a:spAutoFit/>
          </a:bodyPr>
          <a:lstStyle/>
          <a:p>
            <a:pPr algn="l">
              <a:lnSpc>
                <a:spcPct val="110000"/>
              </a:lnSpc>
            </a:pPr>
            <a:r>
              <a:rPr sz="3000" b="1" i="0">
                <a:solidFill>
                  <a:srgbClr val="F6F3EC"/>
                </a:solidFill>
                <a:latin typeface="Cambria"/>
              </a:rPr>
              <a:t>The decision log in five principles</a:t>
            </a:r>
          </a:p>
        </p:txBody>
      </p:sp>
      <p:graphicFrame>
        <p:nvGraphicFramePr>
          <p:cNvPr id="3" name="Table 2"/>
          <p:cNvGraphicFramePr>
            <a:graphicFrameLocks noGrp="1"/>
          </p:cNvGraphicFramePr>
          <p:nvPr/>
        </p:nvGraphicFramePr>
        <p:xfrm>
          <a:off x="812779" y="1587460"/>
          <a:ext cx="10566135" cy="4000398"/>
        </p:xfrm>
        <a:graphic>
          <a:graphicData uri="http://schemas.openxmlformats.org/drawingml/2006/table">
            <a:tbl>
              <a:tblPr firstRow="1" bandRow="1">
                <a:tableStyleId>{5C22544A-7EE6-4342-B048-85BDC9FD1C3A}</a:tableStyleId>
              </a:tblPr>
              <a:tblGrid>
                <a:gridCol w="2730431"/>
                <a:gridCol w="7835704"/>
              </a:tblGrid>
              <a:tr h="444488">
                <a:tc>
                  <a:txBody>
                    <a:bodyPr/>
                    <a:lstStyle/>
                    <a:p>
                      <a:r>
                        <a:rPr sz="1300" b="1">
                          <a:solidFill>
                            <a:srgbClr val="E38B3A"/>
                          </a:solidFill>
                          <a:latin typeface="Calibri"/>
                        </a:rPr>
                        <a:t>Decision</a:t>
                      </a:r>
                    </a:p>
                  </a:txBody>
                  <a:tcPr marL="152396" marR="152396" marT="88897" marB="88897">
                    <a:solidFill>
                      <a:srgbClr val="1E2D48"/>
                    </a:solidFill>
                  </a:tcPr>
                </a:tc>
                <a:tc>
                  <a:txBody>
                    <a:bodyPr/>
                    <a:lstStyle/>
                    <a:p>
                      <a:r>
                        <a:rPr sz="1300" b="1">
                          <a:solidFill>
                            <a:srgbClr val="E38B3A"/>
                          </a:solidFill>
                          <a:latin typeface="Calibri"/>
                        </a:rPr>
                        <a:t>Principle</a:t>
                      </a:r>
                    </a:p>
                  </a:txBody>
                  <a:tcPr marL="152396" marR="152396" marT="88897" marB="88897">
                    <a:solidFill>
                      <a:srgbClr val="1E2D48"/>
                    </a:solidFill>
                  </a:tcPr>
                </a:tc>
              </a:tr>
              <a:tr h="711182">
                <a:tc>
                  <a:txBody>
                    <a:bodyPr/>
                    <a:lstStyle/>
                    <a:p>
                      <a:r>
                        <a:rPr sz="1300" b="1">
                          <a:solidFill>
                            <a:srgbClr val="F6F3EC"/>
                          </a:solidFill>
                          <a:latin typeface="Calibri"/>
                        </a:rPr>
                        <a:t>Identity</a:t>
                      </a:r>
                    </a:p>
                  </a:txBody>
                  <a:tcPr marL="152396" marR="152396" marT="88897" marB="88897">
                    <a:solidFill>
                      <a:srgbClr val="15223A"/>
                    </a:solidFill>
                  </a:tcPr>
                </a:tc>
                <a:tc>
                  <a:txBody>
                    <a:bodyPr/>
                    <a:lstStyle/>
                    <a:p>
                      <a:r>
                        <a:rPr sz="1300" b="0">
                          <a:solidFill>
                            <a:srgbClr val="F6F3EC"/>
                          </a:solidFill>
                          <a:latin typeface="Calibri"/>
                        </a:rPr>
                        <a:t>The normalised application number is the only key that crosses services. A person is a keyed hash of the national id. Service UUIDs are kept and measured, never joined on.</a:t>
                      </a:r>
                    </a:p>
                  </a:txBody>
                  <a:tcPr marL="152396" marR="152396" marT="88897" marB="88897">
                    <a:solidFill>
                      <a:srgbClr val="15223A"/>
                    </a:solidFill>
                  </a:tcPr>
                </a:tc>
              </a:tr>
              <a:tr h="711182">
                <a:tc>
                  <a:txBody>
                    <a:bodyPr/>
                    <a:lstStyle/>
                    <a:p>
                      <a:r>
                        <a:rPr sz="1300" b="1">
                          <a:solidFill>
                            <a:srgbClr val="F6F3EC"/>
                          </a:solidFill>
                          <a:latin typeface="Calibri"/>
                        </a:rPr>
                        <a:t>Joins</a:t>
                      </a:r>
                    </a:p>
                  </a:txBody>
                  <a:tcPr marL="152396" marR="152396" marT="88897" marB="88897">
                    <a:solidFill>
                      <a:srgbClr val="1A2843"/>
                    </a:solidFill>
                  </a:tcPr>
                </a:tc>
                <a:tc>
                  <a:txBody>
                    <a:bodyPr/>
                    <a:lstStyle/>
                    <a:p>
                      <a:r>
                        <a:rPr sz="1300" b="0">
                          <a:solidFill>
                            <a:srgbClr val="F6F3EC"/>
                          </a:solidFill>
                          <a:latin typeface="Calibri"/>
                        </a:rPr>
                        <a:t>As of commit time, against history, to one common cut-off. Orphans are kept, out of the denominator, and published to the team that wrote them. Every entity declares its grain and a test checks it.</a:t>
                      </a:r>
                    </a:p>
                  </a:txBody>
                  <a:tcPr marL="152396" marR="152396" marT="88897" marB="88897">
                    <a:solidFill>
                      <a:srgbClr val="1A2843"/>
                    </a:solidFill>
                  </a:tcPr>
                </a:tc>
              </a:tr>
              <a:tr h="711182">
                <a:tc>
                  <a:txBody>
                    <a:bodyPr/>
                    <a:lstStyle/>
                    <a:p>
                      <a:r>
                        <a:rPr sz="1300" b="1">
                          <a:solidFill>
                            <a:srgbClr val="F6F3EC"/>
                          </a:solidFill>
                          <a:latin typeface="Calibri"/>
                        </a:rPr>
                        <a:t>Governance</a:t>
                      </a:r>
                    </a:p>
                  </a:txBody>
                  <a:tcPr marL="152396" marR="152396" marT="88897" marB="88897">
                    <a:solidFill>
                      <a:srgbClr val="15223A"/>
                    </a:solidFill>
                  </a:tcPr>
                </a:tc>
                <a:tc>
                  <a:txBody>
                    <a:bodyPr/>
                    <a:lstStyle/>
                    <a:p>
                      <a:r>
                        <a:rPr sz="1300" b="0">
                          <a:solidFill>
                            <a:srgbClr val="F6F3EC"/>
                          </a:solidFill>
                          <a:latin typeface="Calibri"/>
                        </a:rPr>
                        <a:t>Direct identifiers never enter analyst-readable schemas. Every access is logged to a store the platform cannot alter. Regulatory retention overrides erasure.</a:t>
                      </a:r>
                    </a:p>
                  </a:txBody>
                  <a:tcPr marL="152396" marR="152396" marT="88897" marB="88897">
                    <a:solidFill>
                      <a:srgbClr val="15223A"/>
                    </a:solidFill>
                  </a:tcPr>
                </a:tc>
              </a:tr>
              <a:tr h="711182">
                <a:tc>
                  <a:txBody>
                    <a:bodyPr/>
                    <a:lstStyle/>
                    <a:p>
                      <a:r>
                        <a:rPr sz="1300" b="1">
                          <a:solidFill>
                            <a:srgbClr val="F6F3EC"/>
                          </a:solidFill>
                          <a:latin typeface="Calibri"/>
                        </a:rPr>
                        <a:t>Rejected</a:t>
                      </a:r>
                    </a:p>
                  </a:txBody>
                  <a:tcPr marL="152396" marR="152396" marT="88897" marB="88897">
                    <a:solidFill>
                      <a:srgbClr val="1A2843"/>
                    </a:solidFill>
                  </a:tcPr>
                </a:tc>
                <a:tc>
                  <a:txBody>
                    <a:bodyPr/>
                    <a:lstStyle/>
                    <a:p>
                      <a:r>
                        <a:rPr sz="1300" b="0">
                          <a:solidFill>
                            <a:srgbClr val="F6F3EC"/>
                          </a:solidFill>
                          <a:latin typeface="Calibri"/>
                        </a:rPr>
                        <a:t>Holding back rows until the sources agree. It ties every metric to the worst integration and changes the denominator. Instead: one owner per fact, every disagreement published with an owner, gated in aggregate.</a:t>
                      </a:r>
                    </a:p>
                  </a:txBody>
                  <a:tcPr marL="152396" marR="152396" marT="88897" marB="88897">
                    <a:solidFill>
                      <a:srgbClr val="1A2843"/>
                    </a:solidFill>
                  </a:tcPr>
                </a:tc>
              </a:tr>
              <a:tr h="711182">
                <a:tc>
                  <a:txBody>
                    <a:bodyPr/>
                    <a:lstStyle/>
                    <a:p>
                      <a:r>
                        <a:rPr sz="1300" b="1">
                          <a:solidFill>
                            <a:srgbClr val="F6F3EC"/>
                          </a:solidFill>
                          <a:latin typeface="Calibri"/>
                        </a:rPr>
                        <a:t>To confirm</a:t>
                      </a:r>
                    </a:p>
                  </a:txBody>
                  <a:tcPr marL="152396" marR="152396" marT="88897" marB="88897">
                    <a:solidFill>
                      <a:srgbClr val="15223A"/>
                    </a:solidFill>
                  </a:tcPr>
                </a:tc>
                <a:tc>
                  <a:txBody>
                    <a:bodyPr/>
                    <a:lstStyle/>
                    <a:p>
                      <a:r>
                        <a:rPr sz="1300" b="0">
                          <a:solidFill>
                            <a:srgbClr val="F6F3EC"/>
                          </a:solidFill>
                          <a:latin typeface="Calibri"/>
                        </a:rPr>
                        <a:t>Whether the decision service can emit an inputs snapshot keyed on application number and decision version. It lifts every Q2 answer to the top evidence grade.</a:t>
                      </a:r>
                    </a:p>
                  </a:txBody>
                  <a:tcPr marL="152396" marR="152396" marT="88897" marB="88897">
                    <a:solidFill>
                      <a:srgbClr val="15223A"/>
                    </a:solidFill>
                  </a:tcPr>
                </a:tc>
              </a:tr>
            </a:tbl>
          </a:graphicData>
        </a:graphic>
      </p:graphicFrame>
      <p:sp>
        <p:nvSpPr>
          <p:cNvPr id="4" name="TextBox 3"/>
          <p:cNvSpPr txBox="1"/>
          <p:nvPr/>
        </p:nvSpPr>
        <p:spPr>
          <a:xfrm>
            <a:off x="10997925" y="6260943"/>
            <a:ext cx="380990" cy="215894"/>
          </a:xfrm>
          <a:prstGeom prst="rect">
            <a:avLst/>
          </a:prstGeom>
          <a:noFill/>
        </p:spPr>
        <p:txBody>
          <a:bodyPr wrap="square" lIns="0" rIns="0" tIns="0" bIns="0" anchor="t">
            <a:spAutoFit/>
          </a:bodyPr>
          <a:lstStyle/>
          <a:p>
            <a:pPr algn="r">
              <a:lnSpc>
                <a:spcPct val="120000"/>
              </a:lnSpc>
            </a:pPr>
            <a:r>
              <a:rPr sz="1100" b="0" i="0">
                <a:solidFill>
                  <a:srgbClr val="BFC9DA"/>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3EC"/>
        </a:solidFill>
        <a:effectLst/>
      </p:bgPr>
    </p:bg>
    <p:spTree>
      <p:nvGrpSpPr>
        <p:cNvPr id="1" name=""/>
        <p:cNvGrpSpPr/>
        <p:nvPr/>
      </p:nvGrpSpPr>
      <p:grpSpPr/>
      <p:sp>
        <p:nvSpPr>
          <p:cNvPr id="2" name="TextBox 1"/>
          <p:cNvSpPr txBox="1"/>
          <p:nvPr/>
        </p:nvSpPr>
        <p:spPr>
          <a:xfrm>
            <a:off x="812779" y="812779"/>
            <a:ext cx="10566135" cy="952476"/>
          </a:xfrm>
          <a:prstGeom prst="rect">
            <a:avLst/>
          </a:prstGeom>
          <a:noFill/>
        </p:spPr>
        <p:txBody>
          <a:bodyPr wrap="square" lIns="0" rIns="0" tIns="0" bIns="0" anchor="t">
            <a:spAutoFit/>
          </a:bodyPr>
          <a:lstStyle/>
          <a:p>
            <a:pPr algn="l">
              <a:lnSpc>
                <a:spcPct val="110000"/>
              </a:lnSpc>
            </a:pPr>
            <a:r>
              <a:rPr sz="3000" b="1" i="0">
                <a:solidFill>
                  <a:srgbClr val="15223A"/>
                </a:solidFill>
                <a:latin typeface="Cambria"/>
              </a:rPr>
              <a:t>Nothing open is blocking</a:t>
            </a:r>
          </a:p>
        </p:txBody>
      </p:sp>
      <p:sp>
        <p:nvSpPr>
          <p:cNvPr id="3" name="Rectangle 2"/>
          <p:cNvSpPr/>
          <p:nvPr/>
        </p:nvSpPr>
        <p:spPr>
          <a:xfrm>
            <a:off x="812779" y="1841453"/>
            <a:ext cx="3384465" cy="2412939"/>
          </a:xfrm>
          <a:prstGeom prst="rect">
            <a:avLst/>
          </a:prstGeom>
          <a:solidFill>
            <a:srgbClr val="FFFFFF"/>
          </a:solidFill>
          <a:ln w="952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5974" y="2006549"/>
            <a:ext cx="2984425" cy="253993"/>
          </a:xfrm>
          <a:prstGeom prst="rect">
            <a:avLst/>
          </a:prstGeom>
          <a:noFill/>
        </p:spPr>
        <p:txBody>
          <a:bodyPr wrap="square" lIns="0" rIns="0" tIns="0" bIns="0" anchor="t">
            <a:spAutoFit/>
          </a:bodyPr>
          <a:lstStyle/>
          <a:p>
            <a:pPr algn="l">
              <a:lnSpc>
                <a:spcPct val="120000"/>
              </a:lnSpc>
            </a:pPr>
            <a:r>
              <a:rPr sz="1400" b="1" i="0">
                <a:solidFill>
                  <a:srgbClr val="E38B3A"/>
                </a:solidFill>
                <a:latin typeface="Calibri"/>
              </a:rPr>
              <a:t>Ask the source owners</a:t>
            </a:r>
          </a:p>
        </p:txBody>
      </p:sp>
      <p:sp>
        <p:nvSpPr>
          <p:cNvPr id="5" name="TextBox 4"/>
          <p:cNvSpPr txBox="1"/>
          <p:nvPr/>
        </p:nvSpPr>
        <p:spPr>
          <a:xfrm>
            <a:off x="1015974" y="2349441"/>
            <a:ext cx="2984425" cy="1841453"/>
          </a:xfrm>
          <a:prstGeom prst="rect">
            <a:avLst/>
          </a:prstGeom>
          <a:noFill/>
        </p:spPr>
        <p:txBody>
          <a:bodyPr wrap="square" lIns="0" rIns="0" tIns="0" bIns="0">
            <a:spAutoFit/>
          </a:bodyPr>
          <a:lstStyle/>
          <a:p>
            <a:pPr>
              <a:lnSpc>
                <a:spcPct val="120000"/>
              </a:lnSpc>
              <a:spcAft>
                <a:spcPts val="600"/>
              </a:spcAft>
            </a:pPr>
            <a:r>
              <a:rPr sz="1200" b="0">
                <a:solidFill>
                  <a:srgbClr val="3C4656"/>
                </a:solidFill>
                <a:latin typeface="Calibri"/>
              </a:rPr>
              <a:t>•  </a:t>
            </a:r>
            <a:r>
              <a:rPr sz="1200" b="0">
                <a:solidFill>
                  <a:srgbClr val="3C4656"/>
                </a:solidFill>
                <a:latin typeface="Calibri"/>
              </a:rPr>
              <a:t>Six criteria the existing Kafka CDC topics must meet to replace DMS</a:t>
            </a:r>
          </a:p>
          <a:p>
            <a:pPr>
              <a:lnSpc>
                <a:spcPct val="120000"/>
              </a:lnSpc>
              <a:spcAft>
                <a:spcPts val="600"/>
              </a:spcAft>
            </a:pPr>
            <a:r>
              <a:rPr sz="1200" b="0">
                <a:solidFill>
                  <a:srgbClr val="3C4656"/>
                </a:solidFill>
                <a:latin typeface="Calibri"/>
              </a:rPr>
              <a:t>•  </a:t>
            </a:r>
            <a:r>
              <a:rPr sz="1200" b="0">
                <a:solidFill>
                  <a:srgbClr val="3C4656"/>
                </a:solidFill>
                <a:latin typeface="Calibri"/>
              </a:rPr>
              <a:t>Which ID scheme national_id holds</a:t>
            </a:r>
          </a:p>
          <a:p>
            <a:pPr>
              <a:lnSpc>
                <a:spcPct val="120000"/>
              </a:lnSpc>
              <a:spcAft>
                <a:spcPts val="600"/>
              </a:spcAft>
            </a:pPr>
            <a:r>
              <a:rPr sz="1200" b="0">
                <a:solidFill>
                  <a:srgbClr val="3C4656"/>
                </a:solidFill>
                <a:latin typeface="Calibri"/>
              </a:rPr>
              <a:t>•  </a:t>
            </a:r>
            <a:r>
              <a:rPr sz="1200" b="0">
                <a:solidFill>
                  <a:srgbClr val="3C4656"/>
                </a:solidFill>
                <a:latin typeface="Calibri"/>
              </a:rPr>
              <a:t>What OFFER_RETRACTED means, and whether CONTRACT_SIGNED mirrors acceptance</a:t>
            </a:r>
          </a:p>
        </p:txBody>
      </p:sp>
      <p:sp>
        <p:nvSpPr>
          <p:cNvPr id="6" name="Rectangle 5"/>
          <p:cNvSpPr/>
          <p:nvPr/>
        </p:nvSpPr>
        <p:spPr>
          <a:xfrm>
            <a:off x="4400439" y="1841453"/>
            <a:ext cx="3384465" cy="2412939"/>
          </a:xfrm>
          <a:prstGeom prst="rect">
            <a:avLst/>
          </a:prstGeom>
          <a:solidFill>
            <a:srgbClr val="FFFFFF"/>
          </a:solidFill>
          <a:ln w="952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3634" y="2006549"/>
            <a:ext cx="2984425" cy="253993"/>
          </a:xfrm>
          <a:prstGeom prst="rect">
            <a:avLst/>
          </a:prstGeom>
          <a:noFill/>
        </p:spPr>
        <p:txBody>
          <a:bodyPr wrap="square" lIns="0" rIns="0" tIns="0" bIns="0" anchor="t">
            <a:spAutoFit/>
          </a:bodyPr>
          <a:lstStyle/>
          <a:p>
            <a:pPr algn="l">
              <a:lnSpc>
                <a:spcPct val="120000"/>
              </a:lnSpc>
            </a:pPr>
            <a:r>
              <a:rPr sz="1400" b="1" i="0">
                <a:solidFill>
                  <a:srgbClr val="E38B3A"/>
                </a:solidFill>
                <a:latin typeface="Calibri"/>
              </a:rPr>
              <a:t>Measure from the data</a:t>
            </a:r>
          </a:p>
        </p:txBody>
      </p:sp>
      <p:sp>
        <p:nvSpPr>
          <p:cNvPr id="8" name="TextBox 7"/>
          <p:cNvSpPr txBox="1"/>
          <p:nvPr/>
        </p:nvSpPr>
        <p:spPr>
          <a:xfrm>
            <a:off x="4603634" y="2349441"/>
            <a:ext cx="2984425" cy="1841453"/>
          </a:xfrm>
          <a:prstGeom prst="rect">
            <a:avLst/>
          </a:prstGeom>
          <a:noFill/>
        </p:spPr>
        <p:txBody>
          <a:bodyPr wrap="square" lIns="0" rIns="0" tIns="0" bIns="0">
            <a:spAutoFit/>
          </a:bodyPr>
          <a:lstStyle/>
          <a:p>
            <a:pPr>
              <a:lnSpc>
                <a:spcPct val="120000"/>
              </a:lnSpc>
              <a:spcAft>
                <a:spcPts val="600"/>
              </a:spcAft>
            </a:pPr>
            <a:r>
              <a:rPr sz="1200" b="0">
                <a:solidFill>
                  <a:srgbClr val="3C4656"/>
                </a:solidFill>
                <a:latin typeface="Calibri"/>
              </a:rPr>
              <a:t>•  </a:t>
            </a:r>
            <a:r>
              <a:rPr sz="1200" b="0">
                <a:solidFill>
                  <a:srgbClr val="3C4656"/>
                </a:solidFill>
                <a:latin typeface="Calibri"/>
              </a:rPr>
              <a:t>Whether a soft-deleted offer is re-issued on the same row</a:t>
            </a:r>
          </a:p>
          <a:p>
            <a:pPr>
              <a:lnSpc>
                <a:spcPct val="120000"/>
              </a:lnSpc>
              <a:spcAft>
                <a:spcPts val="600"/>
              </a:spcAft>
            </a:pPr>
            <a:r>
              <a:rPr sz="1200" b="0">
                <a:solidFill>
                  <a:srgbClr val="3C4656"/>
                </a:solidFill>
                <a:latin typeface="Calibri"/>
              </a:rPr>
              <a:t>•  </a:t>
            </a:r>
            <a:r>
              <a:rPr sz="1200" b="0">
                <a:solidFill>
                  <a:srgbClr val="3C4656"/>
                </a:solidFill>
                <a:latin typeface="Calibri"/>
              </a:rPr>
              <a:t>Whether decided_at is write time or commit time</a:t>
            </a:r>
          </a:p>
          <a:p>
            <a:pPr>
              <a:lnSpc>
                <a:spcPct val="120000"/>
              </a:lnSpc>
              <a:spcAft>
                <a:spcPts val="600"/>
              </a:spcAft>
            </a:pPr>
            <a:r>
              <a:rPr sz="1200" b="0">
                <a:solidFill>
                  <a:srgbClr val="3C4656"/>
                </a:solidFill>
                <a:latin typeface="Calibri"/>
              </a:rPr>
              <a:t>•  </a:t>
            </a:r>
            <a:r>
              <a:rPr sz="1200" b="0">
                <a:solidFill>
                  <a:srgbClr val="3C4656"/>
                </a:solidFill>
                <a:latin typeface="Calibri"/>
              </a:rPr>
              <a:t>How often ids collapse into one person key</a:t>
            </a:r>
          </a:p>
        </p:txBody>
      </p:sp>
      <p:sp>
        <p:nvSpPr>
          <p:cNvPr id="9" name="Rectangle 8"/>
          <p:cNvSpPr/>
          <p:nvPr/>
        </p:nvSpPr>
        <p:spPr>
          <a:xfrm>
            <a:off x="7988100" y="1841453"/>
            <a:ext cx="3384465" cy="2412939"/>
          </a:xfrm>
          <a:prstGeom prst="rect">
            <a:avLst/>
          </a:prstGeom>
          <a:solidFill>
            <a:srgbClr val="FFFFFF"/>
          </a:solidFill>
          <a:ln w="9525">
            <a:solidFill>
              <a:srgbClr val="DE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1295" y="2006549"/>
            <a:ext cx="2984425" cy="253993"/>
          </a:xfrm>
          <a:prstGeom prst="rect">
            <a:avLst/>
          </a:prstGeom>
          <a:noFill/>
        </p:spPr>
        <p:txBody>
          <a:bodyPr wrap="square" lIns="0" rIns="0" tIns="0" bIns="0" anchor="t">
            <a:spAutoFit/>
          </a:bodyPr>
          <a:lstStyle/>
          <a:p>
            <a:pPr algn="l">
              <a:lnSpc>
                <a:spcPct val="120000"/>
              </a:lnSpc>
            </a:pPr>
            <a:r>
              <a:rPr sz="1400" b="1" i="0">
                <a:solidFill>
                  <a:srgbClr val="E38B3A"/>
                </a:solidFill>
                <a:latin typeface="Calibri"/>
              </a:rPr>
              <a:t>Set by their owners</a:t>
            </a:r>
          </a:p>
        </p:txBody>
      </p:sp>
      <p:sp>
        <p:nvSpPr>
          <p:cNvPr id="11" name="TextBox 10"/>
          <p:cNvSpPr txBox="1"/>
          <p:nvPr/>
        </p:nvSpPr>
        <p:spPr>
          <a:xfrm>
            <a:off x="8191295" y="2349441"/>
            <a:ext cx="2984425" cy="1841453"/>
          </a:xfrm>
          <a:prstGeom prst="rect">
            <a:avLst/>
          </a:prstGeom>
          <a:noFill/>
        </p:spPr>
        <p:txBody>
          <a:bodyPr wrap="square" lIns="0" rIns="0" tIns="0" bIns="0">
            <a:spAutoFit/>
          </a:bodyPr>
          <a:lstStyle/>
          <a:p>
            <a:pPr>
              <a:lnSpc>
                <a:spcPct val="120000"/>
              </a:lnSpc>
              <a:spcAft>
                <a:spcPts val="600"/>
              </a:spcAft>
            </a:pPr>
            <a:r>
              <a:rPr sz="1200" b="0">
                <a:solidFill>
                  <a:srgbClr val="3C4656"/>
                </a:solidFill>
                <a:latin typeface="Calibri"/>
              </a:rPr>
              <a:t>•  </a:t>
            </a:r>
            <a:r>
              <a:rPr sz="1200" b="0">
                <a:solidFill>
                  <a:srgbClr val="3C4656"/>
                </a:solidFill>
                <a:latin typeface="Calibri"/>
              </a:rPr>
              <a:t>Product: the bucket mapping and the hold threshold</a:t>
            </a:r>
          </a:p>
          <a:p>
            <a:pPr>
              <a:lnSpc>
                <a:spcPct val="120000"/>
              </a:lnSpc>
              <a:spcAft>
                <a:spcPts val="600"/>
              </a:spcAft>
            </a:pPr>
            <a:r>
              <a:rPr sz="1200" b="0">
                <a:solidFill>
                  <a:srgbClr val="3C4656"/>
                </a:solidFill>
                <a:latin typeface="Calibri"/>
              </a:rPr>
              <a:t>•  </a:t>
            </a:r>
            <a:r>
              <a:rPr sz="1200" b="0">
                <a:solidFill>
                  <a:srgbClr val="3C4656"/>
                </a:solidFill>
                <a:latin typeface="Calibri"/>
              </a:rPr>
              <a:t>Lending squad: the flag threshold</a:t>
            </a:r>
          </a:p>
          <a:p>
            <a:pPr>
              <a:lnSpc>
                <a:spcPct val="120000"/>
              </a:lnSpc>
              <a:spcAft>
                <a:spcPts val="600"/>
              </a:spcAft>
            </a:pPr>
            <a:r>
              <a:rPr sz="1200" b="0">
                <a:solidFill>
                  <a:srgbClr val="3C4656"/>
                </a:solidFill>
                <a:latin typeface="Calibri"/>
              </a:rPr>
              <a:t>•  </a:t>
            </a:r>
            <a:r>
              <a:rPr sz="1200" b="0">
                <a:solidFill>
                  <a:srgbClr val="3C4656"/>
                </a:solidFill>
                <a:latin typeface="Calibri"/>
              </a:rPr>
              <a:t>The data protection officer: the PII classification</a:t>
            </a:r>
          </a:p>
        </p:txBody>
      </p:sp>
      <p:sp>
        <p:nvSpPr>
          <p:cNvPr id="12" name="TextBox 11"/>
          <p:cNvSpPr txBox="1"/>
          <p:nvPr/>
        </p:nvSpPr>
        <p:spPr>
          <a:xfrm>
            <a:off x="812779" y="4698882"/>
            <a:ext cx="10566135" cy="761980"/>
          </a:xfrm>
          <a:prstGeom prst="rect">
            <a:avLst/>
          </a:prstGeom>
          <a:noFill/>
        </p:spPr>
        <p:txBody>
          <a:bodyPr wrap="square" lIns="0" rIns="0" tIns="0" bIns="0" anchor="t">
            <a:spAutoFit/>
          </a:bodyPr>
          <a:lstStyle/>
          <a:p>
            <a:pPr algn="l">
              <a:lnSpc>
                <a:spcPct val="130000"/>
              </a:lnSpc>
            </a:pPr>
            <a:r>
              <a:rPr sz="1600" b="0" i="0">
                <a:solidFill>
                  <a:srgbClr val="15223A"/>
                </a:solidFill>
                <a:latin typeface="Cambria"/>
              </a:rPr>
              <a:t>If the Kafka topics meet the six criteria, Bronze reads the topics, S3 stays the archive, and nothing downstream of Bronze changes.</a:t>
            </a:r>
          </a:p>
        </p:txBody>
      </p:sp>
      <p:sp>
        <p:nvSpPr>
          <p:cNvPr id="13" name="TextBox 12"/>
          <p:cNvSpPr txBox="1"/>
          <p:nvPr/>
        </p:nvSpPr>
        <p:spPr>
          <a:xfrm>
            <a:off x="10997925" y="6260943"/>
            <a:ext cx="380990" cy="215894"/>
          </a:xfrm>
          <a:prstGeom prst="rect">
            <a:avLst/>
          </a:prstGeom>
          <a:noFill/>
        </p:spPr>
        <p:txBody>
          <a:bodyPr wrap="square" lIns="0" rIns="0" tIns="0" bIns="0" anchor="t">
            <a:spAutoFit/>
          </a:bodyPr>
          <a:lstStyle/>
          <a:p>
            <a:pPr algn="r">
              <a:lnSpc>
                <a:spcPct val="120000"/>
              </a:lnSpc>
            </a:pPr>
            <a:r>
              <a:rPr sz="1100" b="0" i="0">
                <a:solidFill>
                  <a:srgbClr val="6B7484"/>
                </a:solidFill>
                <a:latin typeface="Calibr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